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1" r:id="rId5"/>
    <p:sldId id="259" r:id="rId6"/>
    <p:sldId id="260" r:id="rId7"/>
    <p:sldId id="264" r:id="rId8"/>
    <p:sldId id="262" r:id="rId9"/>
    <p:sldId id="263" r:id="rId10"/>
    <p:sldId id="265" r:id="rId11"/>
  </p:sldIdLst>
  <p:sldSz cx="18288000" cy="10287000"/>
  <p:notesSz cx="6858000" cy="9144000"/>
  <p:embeddedFontLst>
    <p:embeddedFont>
      <p:font typeface="Montserrat" pitchFamily="2" charset="77"/>
      <p:regular r:id="rId12"/>
      <p:bold r:id="rId13"/>
      <p:italic r:id="rId14"/>
      <p:boldItalic r:id="rId15"/>
    </p:embeddedFont>
    <p:embeddedFont>
      <p:font typeface="Montserrat Bold" pitchFamily="2" charset="77"/>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48F763-9351-F442-97E7-932E893F3B32}" v="76" dt="2025-03-15T23:27:08.1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96" autoAdjust="0"/>
    <p:restoredTop sz="94596" autoAdjust="0"/>
  </p:normalViewPr>
  <p:slideViewPr>
    <p:cSldViewPr>
      <p:cViewPr>
        <p:scale>
          <a:sx n="81" d="100"/>
          <a:sy n="81" d="100"/>
        </p:scale>
        <p:origin x="832" y="9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1.svg"/><Relationship Id="rId7" Type="http://schemas.openxmlformats.org/officeDocument/2006/relationships/hyperlink" Target="https://www.pcrisk.com/removal-guides/24242-lockbit-3-0-ransomware" TargetMode="External"/><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1.svg"/><Relationship Id="rId7"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4.svg"/><Relationship Id="rId7" Type="http://schemas.openxmlformats.org/officeDocument/2006/relationships/image" Target="../media/image26.jpe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hyperlink" Target="https://documents.trendmicro.com/images/TEx/articles/RS-LockBit-Figure-02.jpg" TargetMode="External"/><Relationship Id="rId5" Type="http://schemas.openxmlformats.org/officeDocument/2006/relationships/image" Target="../media/image25.jpeg"/><Relationship Id="rId4" Type="http://schemas.openxmlformats.org/officeDocument/2006/relationships/hyperlink" Target="https://documents.trendmicro.com/images/TEx/articles/RS-LockBit-Figure-03.jpg"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1.svg"/><Relationship Id="rId7" Type="http://schemas.openxmlformats.org/officeDocument/2006/relationships/image" Target="../media/image27.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hyperlink" Target="https://blogs.blackberry.com/en/2021/08/threat-spotlight-lockbit-2-0-ransomware-takes-on-top-consulting-firm" TargetMode="External"/><Relationship Id="rId5" Type="http://schemas.openxmlformats.org/officeDocument/2006/relationships/image" Target="../media/image24.sv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35.jpg"/><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hyperlink" Target="https://www.rawpixel.com/image/327252/illustration-shield-icon"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hyperlink" Target="https://www.state.gov/reward-for-information-lockbit-ransomware-as-a-service/" TargetMode="External"/><Relationship Id="rId2" Type="http://schemas.openxmlformats.org/officeDocument/2006/relationships/image" Target="../media/image36.jpeg"/><Relationship Id="rId1" Type="http://schemas.openxmlformats.org/officeDocument/2006/relationships/slideLayout" Target="../slideLayouts/slideLayout7.xml"/><Relationship Id="rId6" Type="http://schemas.openxmlformats.org/officeDocument/2006/relationships/hyperlink" Target="https://www.akamai.com/glossary/what-is-lockbit-ransomware" TargetMode="External"/><Relationship Id="rId5" Type="http://schemas.openxmlformats.org/officeDocument/2006/relationships/hyperlink" Target="https://www.trendmicro.com/vinfo/us/security/news/ransomware-spotlight/ransomware-spotlight-lockbit" TargetMode="External"/><Relationship Id="rId4" Type="http://schemas.openxmlformats.org/officeDocument/2006/relationships/image" Target="../media/image3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p:cNvGrpSpPr/>
        <p:nvPr/>
      </p:nvGrpSpPr>
      <p:grpSpPr>
        <a:xfrm>
          <a:off x="0" y="0"/>
          <a:ext cx="0" cy="0"/>
          <a:chOff x="0" y="0"/>
          <a:chExt cx="0" cy="0"/>
        </a:xfrm>
      </p:grpSpPr>
      <p:grpSp>
        <p:nvGrpSpPr>
          <p:cNvPr id="2" name="Group 2"/>
          <p:cNvGrpSpPr/>
          <p:nvPr/>
        </p:nvGrpSpPr>
        <p:grpSpPr>
          <a:xfrm>
            <a:off x="4944399" y="0"/>
            <a:ext cx="13343601" cy="10287000"/>
            <a:chOff x="0" y="0"/>
            <a:chExt cx="2067273" cy="1593725"/>
          </a:xfrm>
        </p:grpSpPr>
        <p:sp>
          <p:nvSpPr>
            <p:cNvPr id="3" name="Freeform 3"/>
            <p:cNvSpPr/>
            <p:nvPr/>
          </p:nvSpPr>
          <p:spPr>
            <a:xfrm>
              <a:off x="0" y="0"/>
              <a:ext cx="2067273" cy="1593725"/>
            </a:xfrm>
            <a:custGeom>
              <a:avLst/>
              <a:gdLst/>
              <a:ahLst/>
              <a:cxnLst/>
              <a:rect l="l" t="t" r="r" b="b"/>
              <a:pathLst>
                <a:path w="2067273" h="1593725">
                  <a:moveTo>
                    <a:pt x="0" y="0"/>
                  </a:moveTo>
                  <a:lnTo>
                    <a:pt x="2067273" y="0"/>
                  </a:lnTo>
                  <a:lnTo>
                    <a:pt x="2067273" y="1593725"/>
                  </a:lnTo>
                  <a:lnTo>
                    <a:pt x="0" y="1593725"/>
                  </a:lnTo>
                  <a:close/>
                </a:path>
              </a:pathLst>
            </a:custGeom>
            <a:blipFill>
              <a:blip r:embed="rId2"/>
              <a:stretch>
                <a:fillRect r="-37054"/>
              </a:stretch>
            </a:blipFill>
          </p:spPr>
          <p:txBody>
            <a:bodyPr/>
            <a:lstStyle/>
            <a:p>
              <a:endParaRPr lang="en-US"/>
            </a:p>
          </p:txBody>
        </p:sp>
      </p:grpSp>
      <p:grpSp>
        <p:nvGrpSpPr>
          <p:cNvPr id="4" name="Group 4"/>
          <p:cNvGrpSpPr/>
          <p:nvPr/>
        </p:nvGrpSpPr>
        <p:grpSpPr>
          <a:xfrm>
            <a:off x="838200" y="5704916"/>
            <a:ext cx="8756885" cy="809502"/>
            <a:chOff x="0" y="0"/>
            <a:chExt cx="323259" cy="29883"/>
          </a:xfrm>
        </p:grpSpPr>
        <p:sp>
          <p:nvSpPr>
            <p:cNvPr id="5" name="Freeform 5"/>
            <p:cNvSpPr/>
            <p:nvPr/>
          </p:nvSpPr>
          <p:spPr>
            <a:xfrm>
              <a:off x="0" y="0"/>
              <a:ext cx="323259" cy="29883"/>
            </a:xfrm>
            <a:custGeom>
              <a:avLst/>
              <a:gdLst/>
              <a:ahLst/>
              <a:cxnLst/>
              <a:rect l="l" t="t" r="r" b="b"/>
              <a:pathLst>
                <a:path w="323259" h="29883">
                  <a:moveTo>
                    <a:pt x="0" y="0"/>
                  </a:moveTo>
                  <a:lnTo>
                    <a:pt x="323259" y="0"/>
                  </a:lnTo>
                  <a:lnTo>
                    <a:pt x="323259" y="29883"/>
                  </a:lnTo>
                  <a:lnTo>
                    <a:pt x="0" y="29883"/>
                  </a:lnTo>
                  <a:close/>
                </a:path>
              </a:pathLst>
            </a:custGeom>
            <a:gradFill rotWithShape="1">
              <a:gsLst>
                <a:gs pos="0">
                  <a:srgbClr val="175DB7">
                    <a:alpha val="100000"/>
                  </a:srgbClr>
                </a:gs>
                <a:gs pos="100000">
                  <a:srgbClr val="13BFAF">
                    <a:alpha val="100000"/>
                  </a:srgbClr>
                </a:gs>
              </a:gsLst>
              <a:lin ang="0"/>
            </a:gradFill>
          </p:spPr>
          <p:txBody>
            <a:bodyPr/>
            <a:lstStyle/>
            <a:p>
              <a:endParaRPr lang="en-US" dirty="0"/>
            </a:p>
          </p:txBody>
        </p:sp>
        <p:sp>
          <p:nvSpPr>
            <p:cNvPr id="6" name="TextBox 6"/>
            <p:cNvSpPr txBox="1"/>
            <p:nvPr/>
          </p:nvSpPr>
          <p:spPr>
            <a:xfrm>
              <a:off x="0" y="-38100"/>
              <a:ext cx="323259" cy="67983"/>
            </a:xfrm>
            <a:prstGeom prst="rect">
              <a:avLst/>
            </a:prstGeom>
          </p:spPr>
          <p:txBody>
            <a:bodyPr lIns="362440" tIns="362440" rIns="362440" bIns="362440" rtlCol="0" anchor="ctr"/>
            <a:lstStyle/>
            <a:p>
              <a:pPr algn="ctr">
                <a:lnSpc>
                  <a:spcPts val="2659"/>
                </a:lnSpc>
              </a:pPr>
              <a:endParaRPr/>
            </a:p>
          </p:txBody>
        </p:sp>
      </p:grpSp>
      <p:sp>
        <p:nvSpPr>
          <p:cNvPr id="7" name="TextBox 7"/>
          <p:cNvSpPr txBox="1"/>
          <p:nvPr/>
        </p:nvSpPr>
        <p:spPr>
          <a:xfrm>
            <a:off x="579983" y="2433699"/>
            <a:ext cx="13140623" cy="3271217"/>
          </a:xfrm>
          <a:prstGeom prst="rect">
            <a:avLst/>
          </a:prstGeom>
        </p:spPr>
        <p:txBody>
          <a:bodyPr lIns="0" tIns="0" rIns="0" bIns="0" rtlCol="0" anchor="t">
            <a:spAutoFit/>
          </a:bodyPr>
          <a:lstStyle/>
          <a:p>
            <a:pPr algn="l">
              <a:lnSpc>
                <a:spcPts val="12598"/>
              </a:lnSpc>
            </a:pPr>
            <a:r>
              <a:rPr lang="en-US" sz="13998" b="1" dirty="0">
                <a:solidFill>
                  <a:srgbClr val="FFFFFF"/>
                </a:solidFill>
                <a:latin typeface="Montserrat Bold"/>
                <a:ea typeface="Montserrat Bold"/>
                <a:cs typeface="Montserrat Bold"/>
                <a:sym typeface="Montserrat Bold"/>
              </a:rPr>
              <a:t>Insight into LOCKBIT</a:t>
            </a:r>
          </a:p>
        </p:txBody>
      </p:sp>
      <p:sp>
        <p:nvSpPr>
          <p:cNvPr id="8" name="TextBox 8"/>
          <p:cNvSpPr txBox="1"/>
          <p:nvPr/>
        </p:nvSpPr>
        <p:spPr>
          <a:xfrm>
            <a:off x="-83299" y="5881067"/>
            <a:ext cx="9678384" cy="457200"/>
          </a:xfrm>
          <a:prstGeom prst="rect">
            <a:avLst/>
          </a:prstGeom>
        </p:spPr>
        <p:txBody>
          <a:bodyPr lIns="0" tIns="0" rIns="0" bIns="0" rtlCol="0" anchor="t">
            <a:spAutoFit/>
          </a:bodyPr>
          <a:lstStyle/>
          <a:p>
            <a:pPr algn="ctr">
              <a:lnSpc>
                <a:spcPts val="3600"/>
              </a:lnSpc>
            </a:pPr>
            <a:r>
              <a:rPr lang="en-US" sz="3000" b="1" dirty="0">
                <a:solidFill>
                  <a:srgbClr val="FFFFFF"/>
                </a:solidFill>
                <a:latin typeface="Montserrat Bold"/>
                <a:ea typeface="Montserrat Bold"/>
                <a:cs typeface="Montserrat Bold"/>
                <a:sym typeface="Montserrat Bold"/>
              </a:rPr>
              <a:t>By: Karla Alvarez</a:t>
            </a:r>
          </a:p>
        </p:txBody>
      </p:sp>
      <p:sp>
        <p:nvSpPr>
          <p:cNvPr id="9" name="Freeform 9"/>
          <p:cNvSpPr/>
          <p:nvPr/>
        </p:nvSpPr>
        <p:spPr>
          <a:xfrm>
            <a:off x="-1139059" y="-2433699"/>
            <a:ext cx="5128484" cy="4867398"/>
          </a:xfrm>
          <a:custGeom>
            <a:avLst/>
            <a:gdLst/>
            <a:ahLst/>
            <a:cxnLst/>
            <a:rect l="l" t="t" r="r" b="b"/>
            <a:pathLst>
              <a:path w="5128484" h="4867398">
                <a:moveTo>
                  <a:pt x="0" y="0"/>
                </a:moveTo>
                <a:lnTo>
                  <a:pt x="5128484" y="0"/>
                </a:lnTo>
                <a:lnTo>
                  <a:pt x="5128484" y="4867398"/>
                </a:lnTo>
                <a:lnTo>
                  <a:pt x="0" y="48673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p:cNvGrpSpPr/>
        <p:nvPr/>
      </p:nvGrpSpPr>
      <p:grpSpPr>
        <a:xfrm>
          <a:off x="0" y="0"/>
          <a:ext cx="0" cy="0"/>
          <a:chOff x="0" y="0"/>
          <a:chExt cx="0" cy="0"/>
        </a:xfrm>
      </p:grpSpPr>
      <p:grpSp>
        <p:nvGrpSpPr>
          <p:cNvPr id="2" name="Group 2"/>
          <p:cNvGrpSpPr/>
          <p:nvPr/>
        </p:nvGrpSpPr>
        <p:grpSpPr>
          <a:xfrm>
            <a:off x="474529" y="149498"/>
            <a:ext cx="7536751" cy="8627843"/>
            <a:chOff x="0" y="0"/>
            <a:chExt cx="812800" cy="930469"/>
          </a:xfrm>
        </p:grpSpPr>
        <p:sp>
          <p:nvSpPr>
            <p:cNvPr id="3" name="Freeform 3"/>
            <p:cNvSpPr/>
            <p:nvPr/>
          </p:nvSpPr>
          <p:spPr>
            <a:xfrm>
              <a:off x="0" y="0"/>
              <a:ext cx="812800" cy="930469"/>
            </a:xfrm>
            <a:custGeom>
              <a:avLst/>
              <a:gdLst/>
              <a:ahLst/>
              <a:cxnLst/>
              <a:rect l="l" t="t" r="r" b="b"/>
              <a:pathLst>
                <a:path w="812800" h="930469">
                  <a:moveTo>
                    <a:pt x="0" y="0"/>
                  </a:moveTo>
                  <a:lnTo>
                    <a:pt x="812800" y="0"/>
                  </a:lnTo>
                  <a:lnTo>
                    <a:pt x="812800" y="930469"/>
                  </a:lnTo>
                  <a:lnTo>
                    <a:pt x="0" y="930469"/>
                  </a:lnTo>
                  <a:close/>
                </a:path>
              </a:pathLst>
            </a:custGeom>
            <a:blipFill>
              <a:blip r:embed="rId2"/>
              <a:stretch>
                <a:fillRect l="-51757" r="-51757"/>
              </a:stretch>
            </a:blipFill>
          </p:spPr>
          <p:txBody>
            <a:bodyPr/>
            <a:lstStyle/>
            <a:p>
              <a:endParaRPr lang="en-US"/>
            </a:p>
          </p:txBody>
        </p:sp>
      </p:grpSp>
      <p:grpSp>
        <p:nvGrpSpPr>
          <p:cNvPr id="7" name="Group 7"/>
          <p:cNvGrpSpPr/>
          <p:nvPr/>
        </p:nvGrpSpPr>
        <p:grpSpPr>
          <a:xfrm>
            <a:off x="2161237" y="8777341"/>
            <a:ext cx="6218093" cy="185913"/>
            <a:chOff x="0" y="0"/>
            <a:chExt cx="229601" cy="6865"/>
          </a:xfrm>
        </p:grpSpPr>
        <p:sp>
          <p:nvSpPr>
            <p:cNvPr id="8" name="Freeform 8"/>
            <p:cNvSpPr/>
            <p:nvPr/>
          </p:nvSpPr>
          <p:spPr>
            <a:xfrm>
              <a:off x="0" y="0"/>
              <a:ext cx="229601" cy="6865"/>
            </a:xfrm>
            <a:custGeom>
              <a:avLst/>
              <a:gdLst/>
              <a:ahLst/>
              <a:cxnLst/>
              <a:rect l="l" t="t" r="r" b="b"/>
              <a:pathLst>
                <a:path w="229601" h="6865">
                  <a:moveTo>
                    <a:pt x="0" y="0"/>
                  </a:moveTo>
                  <a:lnTo>
                    <a:pt x="229601" y="0"/>
                  </a:lnTo>
                  <a:lnTo>
                    <a:pt x="229601" y="6865"/>
                  </a:lnTo>
                  <a:lnTo>
                    <a:pt x="0" y="6865"/>
                  </a:lnTo>
                  <a:close/>
                </a:path>
              </a:pathLst>
            </a:custGeom>
            <a:solidFill>
              <a:srgbClr val="FFFFFF"/>
            </a:solidFill>
          </p:spPr>
          <p:txBody>
            <a:bodyPr/>
            <a:lstStyle/>
            <a:p>
              <a:endParaRPr lang="en-US"/>
            </a:p>
          </p:txBody>
        </p:sp>
        <p:sp>
          <p:nvSpPr>
            <p:cNvPr id="9" name="TextBox 9"/>
            <p:cNvSpPr txBox="1"/>
            <p:nvPr/>
          </p:nvSpPr>
          <p:spPr>
            <a:xfrm>
              <a:off x="0" y="-38100"/>
              <a:ext cx="229601" cy="44965"/>
            </a:xfrm>
            <a:prstGeom prst="rect">
              <a:avLst/>
            </a:prstGeom>
          </p:spPr>
          <p:txBody>
            <a:bodyPr lIns="362344" tIns="362344" rIns="362344" bIns="362344" rtlCol="0" anchor="ctr"/>
            <a:lstStyle/>
            <a:p>
              <a:pPr algn="ctr">
                <a:lnSpc>
                  <a:spcPts val="2659"/>
                </a:lnSpc>
              </a:pPr>
              <a:endParaRPr/>
            </a:p>
          </p:txBody>
        </p:sp>
      </p:grpSp>
      <p:grpSp>
        <p:nvGrpSpPr>
          <p:cNvPr id="10" name="Group 10"/>
          <p:cNvGrpSpPr/>
          <p:nvPr/>
        </p:nvGrpSpPr>
        <p:grpSpPr>
          <a:xfrm>
            <a:off x="2941477" y="8777341"/>
            <a:ext cx="5437852" cy="185913"/>
            <a:chOff x="0" y="0"/>
            <a:chExt cx="200791" cy="6865"/>
          </a:xfrm>
        </p:grpSpPr>
        <p:sp>
          <p:nvSpPr>
            <p:cNvPr id="11" name="Freeform 11"/>
            <p:cNvSpPr/>
            <p:nvPr/>
          </p:nvSpPr>
          <p:spPr>
            <a:xfrm>
              <a:off x="0" y="0"/>
              <a:ext cx="200791" cy="6865"/>
            </a:xfrm>
            <a:custGeom>
              <a:avLst/>
              <a:gdLst/>
              <a:ahLst/>
              <a:cxnLst/>
              <a:rect l="l" t="t" r="r" b="b"/>
              <a:pathLst>
                <a:path w="200791" h="6865">
                  <a:moveTo>
                    <a:pt x="0" y="0"/>
                  </a:moveTo>
                  <a:lnTo>
                    <a:pt x="200791" y="0"/>
                  </a:lnTo>
                  <a:lnTo>
                    <a:pt x="200791" y="6865"/>
                  </a:lnTo>
                  <a:lnTo>
                    <a:pt x="0" y="6865"/>
                  </a:lnTo>
                  <a:close/>
                </a:path>
              </a:pathLst>
            </a:custGeom>
            <a:solidFill>
              <a:srgbClr val="02060F"/>
            </a:solidFill>
          </p:spPr>
          <p:txBody>
            <a:bodyPr/>
            <a:lstStyle/>
            <a:p>
              <a:endParaRPr lang="en-US"/>
            </a:p>
          </p:txBody>
        </p:sp>
        <p:sp>
          <p:nvSpPr>
            <p:cNvPr id="12" name="TextBox 12"/>
            <p:cNvSpPr txBox="1"/>
            <p:nvPr/>
          </p:nvSpPr>
          <p:spPr>
            <a:xfrm>
              <a:off x="0" y="-38100"/>
              <a:ext cx="200791" cy="44965"/>
            </a:xfrm>
            <a:prstGeom prst="rect">
              <a:avLst/>
            </a:prstGeom>
          </p:spPr>
          <p:txBody>
            <a:bodyPr lIns="362344" tIns="362344" rIns="362344" bIns="362344" rtlCol="0" anchor="ctr"/>
            <a:lstStyle/>
            <a:p>
              <a:pPr algn="ctr">
                <a:lnSpc>
                  <a:spcPts val="2659"/>
                </a:lnSpc>
              </a:pPr>
              <a:endParaRPr/>
            </a:p>
          </p:txBody>
        </p:sp>
      </p:grpSp>
      <p:sp>
        <p:nvSpPr>
          <p:cNvPr id="15" name="Freeform 15"/>
          <p:cNvSpPr/>
          <p:nvPr/>
        </p:nvSpPr>
        <p:spPr>
          <a:xfrm rot="-5400362">
            <a:off x="11267469" y="370"/>
            <a:ext cx="7020416" cy="7020416"/>
          </a:xfrm>
          <a:custGeom>
            <a:avLst/>
            <a:gdLst/>
            <a:ahLst/>
            <a:cxnLst/>
            <a:rect l="l" t="t" r="r" b="b"/>
            <a:pathLst>
              <a:path w="7020416" h="7020416">
                <a:moveTo>
                  <a:pt x="0" y="0"/>
                </a:moveTo>
                <a:lnTo>
                  <a:pt x="7020416" y="0"/>
                </a:lnTo>
                <a:lnTo>
                  <a:pt x="7020416" y="7020416"/>
                </a:lnTo>
                <a:lnTo>
                  <a:pt x="0" y="702041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6" name="TextBox 16"/>
          <p:cNvSpPr txBox="1"/>
          <p:nvPr/>
        </p:nvSpPr>
        <p:spPr>
          <a:xfrm>
            <a:off x="9689200" y="1260671"/>
            <a:ext cx="8893917" cy="897682"/>
          </a:xfrm>
          <a:prstGeom prst="rect">
            <a:avLst/>
          </a:prstGeom>
        </p:spPr>
        <p:txBody>
          <a:bodyPr lIns="0" tIns="0" rIns="0" bIns="0" rtlCol="0" anchor="t">
            <a:spAutoFit/>
          </a:bodyPr>
          <a:lstStyle/>
          <a:p>
            <a:pPr algn="l">
              <a:lnSpc>
                <a:spcPts val="6999"/>
              </a:lnSpc>
            </a:pPr>
            <a:r>
              <a:rPr lang="en-US" sz="6999" b="1" dirty="0">
                <a:solidFill>
                  <a:srgbClr val="FFFFFF"/>
                </a:solidFill>
                <a:latin typeface="Montserrat Bold"/>
                <a:ea typeface="Montserrat Bold"/>
                <a:cs typeface="Montserrat Bold"/>
                <a:sym typeface="Montserrat Bold"/>
              </a:rPr>
              <a:t>Ransomware</a:t>
            </a:r>
          </a:p>
        </p:txBody>
      </p:sp>
      <p:sp>
        <p:nvSpPr>
          <p:cNvPr id="17" name="TextBox 17"/>
          <p:cNvSpPr txBox="1"/>
          <p:nvPr/>
        </p:nvSpPr>
        <p:spPr>
          <a:xfrm>
            <a:off x="9689200" y="2366253"/>
            <a:ext cx="8093791" cy="2335832"/>
          </a:xfrm>
          <a:prstGeom prst="rect">
            <a:avLst/>
          </a:prstGeom>
        </p:spPr>
        <p:txBody>
          <a:bodyPr wrap="square" lIns="0" tIns="0" rIns="0" bIns="0" rtlCol="0" anchor="t">
            <a:spAutoFit/>
          </a:bodyPr>
          <a:lstStyle/>
          <a:p>
            <a:pPr algn="l">
              <a:lnSpc>
                <a:spcPts val="6299"/>
              </a:lnSpc>
            </a:pPr>
            <a:r>
              <a:rPr lang="en-US" sz="3600" b="1" dirty="0">
                <a:solidFill>
                  <a:srgbClr val="37B4BE"/>
                </a:solidFill>
                <a:latin typeface="Montserrat Bold"/>
                <a:ea typeface="Montserrat Bold"/>
                <a:cs typeface="Montserrat Bold"/>
                <a:sym typeface="Montserrat Bold"/>
              </a:rPr>
              <a:t>Malicious software that encrypts files, demanding payment for decryption</a:t>
            </a:r>
          </a:p>
        </p:txBody>
      </p:sp>
      <p:sp>
        <p:nvSpPr>
          <p:cNvPr id="20" name="TextBox 20"/>
          <p:cNvSpPr txBox="1"/>
          <p:nvPr/>
        </p:nvSpPr>
        <p:spPr>
          <a:xfrm>
            <a:off x="9719680" y="5213441"/>
            <a:ext cx="8093791" cy="736612"/>
          </a:xfrm>
          <a:prstGeom prst="rect">
            <a:avLst/>
          </a:prstGeom>
        </p:spPr>
        <p:txBody>
          <a:bodyPr lIns="0" tIns="0" rIns="0" bIns="0" rtlCol="0" anchor="t">
            <a:spAutoFit/>
          </a:bodyPr>
          <a:lstStyle/>
          <a:p>
            <a:pPr algn="l">
              <a:lnSpc>
                <a:spcPts val="3000"/>
              </a:lnSpc>
            </a:pPr>
            <a:r>
              <a:rPr lang="en-US" sz="2000" dirty="0">
                <a:solidFill>
                  <a:srgbClr val="FFFFFF"/>
                </a:solidFill>
                <a:latin typeface="Montserrat"/>
                <a:ea typeface="Montserrat"/>
                <a:cs typeface="Montserrat"/>
                <a:sym typeface="Montserrat"/>
              </a:rPr>
              <a:t>Ransomware attacks continued to trend upwards in 2024, rising by 3% compared to 2023 </a:t>
            </a:r>
          </a:p>
        </p:txBody>
      </p:sp>
      <p:pic>
        <p:nvPicPr>
          <p:cNvPr id="26" name="Picture 25" descr="A graph of a bar chart&#10;&#10;AI-generated content may be incorrect.">
            <a:extLst>
              <a:ext uri="{FF2B5EF4-FFF2-40B4-BE49-F238E27FC236}">
                <a16:creationId xmlns:a16="http://schemas.microsoft.com/office/drawing/2014/main" id="{FDEEE1E6-CEB3-0FDD-565E-3B86A7F01F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9680" y="6244347"/>
            <a:ext cx="5473700" cy="3352800"/>
          </a:xfrm>
          <a:prstGeom prst="rect">
            <a:avLst/>
          </a:prstGeom>
        </p:spPr>
      </p:pic>
      <p:sp>
        <p:nvSpPr>
          <p:cNvPr id="27" name="TextBox 26">
            <a:extLst>
              <a:ext uri="{FF2B5EF4-FFF2-40B4-BE49-F238E27FC236}">
                <a16:creationId xmlns:a16="http://schemas.microsoft.com/office/drawing/2014/main" id="{20210CAB-D77B-C273-7BB6-87691A8F14FD}"/>
              </a:ext>
            </a:extLst>
          </p:cNvPr>
          <p:cNvSpPr txBox="1"/>
          <p:nvPr/>
        </p:nvSpPr>
        <p:spPr>
          <a:xfrm>
            <a:off x="580164" y="9412481"/>
            <a:ext cx="7325480" cy="369332"/>
          </a:xfrm>
          <a:prstGeom prst="rect">
            <a:avLst/>
          </a:prstGeom>
          <a:noFill/>
        </p:spPr>
        <p:txBody>
          <a:bodyPr wrap="square" rtlCol="0">
            <a:spAutoFit/>
          </a:bodyPr>
          <a:lstStyle/>
          <a:p>
            <a:r>
              <a:rPr lang="en-US" dirty="0">
                <a:solidFill>
                  <a:schemeClr val="bg1"/>
                </a:solidFill>
              </a:rPr>
              <a:t>https://</a:t>
            </a:r>
            <a:r>
              <a:rPr lang="en-US" dirty="0" err="1">
                <a:solidFill>
                  <a:schemeClr val="bg1"/>
                </a:solidFill>
              </a:rPr>
              <a:t>www.security.com</a:t>
            </a:r>
            <a:r>
              <a:rPr lang="en-US" dirty="0">
                <a:solidFill>
                  <a:schemeClr val="bg1"/>
                </a:solidFill>
              </a:rPr>
              <a:t>/threat-intelligence/ransomware-trends-2025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p:cNvGrpSpPr/>
        <p:nvPr/>
      </p:nvGrpSpPr>
      <p:grpSpPr>
        <a:xfrm>
          <a:off x="0" y="0"/>
          <a:ext cx="0" cy="0"/>
          <a:chOff x="0" y="0"/>
          <a:chExt cx="0" cy="0"/>
        </a:xfrm>
      </p:grpSpPr>
      <p:sp>
        <p:nvSpPr>
          <p:cNvPr id="2" name="Freeform 2"/>
          <p:cNvSpPr/>
          <p:nvPr/>
        </p:nvSpPr>
        <p:spPr>
          <a:xfrm rot="-10800000">
            <a:off x="0" y="0"/>
            <a:ext cx="6262550" cy="6262550"/>
          </a:xfrm>
          <a:custGeom>
            <a:avLst/>
            <a:gdLst/>
            <a:ahLst/>
            <a:cxnLst/>
            <a:rect l="l" t="t" r="r" b="b"/>
            <a:pathLst>
              <a:path w="6262550" h="6262550">
                <a:moveTo>
                  <a:pt x="0" y="0"/>
                </a:moveTo>
                <a:lnTo>
                  <a:pt x="6262550" y="0"/>
                </a:lnTo>
                <a:lnTo>
                  <a:pt x="6262550" y="6262550"/>
                </a:lnTo>
                <a:lnTo>
                  <a:pt x="0" y="62625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5104977" y="5597389"/>
            <a:ext cx="3944468" cy="3387216"/>
            <a:chOff x="0" y="0"/>
            <a:chExt cx="145609" cy="125039"/>
          </a:xfrm>
        </p:grpSpPr>
        <p:sp>
          <p:nvSpPr>
            <p:cNvPr id="4" name="Freeform 4"/>
            <p:cNvSpPr/>
            <p:nvPr/>
          </p:nvSpPr>
          <p:spPr>
            <a:xfrm>
              <a:off x="0" y="0"/>
              <a:ext cx="145609" cy="125039"/>
            </a:xfrm>
            <a:custGeom>
              <a:avLst/>
              <a:gdLst/>
              <a:ahLst/>
              <a:cxnLst/>
              <a:rect l="l" t="t" r="r" b="b"/>
              <a:pathLst>
                <a:path w="145609" h="125039">
                  <a:moveTo>
                    <a:pt x="0" y="0"/>
                  </a:moveTo>
                  <a:lnTo>
                    <a:pt x="145609" y="0"/>
                  </a:lnTo>
                  <a:lnTo>
                    <a:pt x="145609" y="125039"/>
                  </a:lnTo>
                  <a:lnTo>
                    <a:pt x="0" y="125039"/>
                  </a:lnTo>
                  <a:close/>
                </a:path>
              </a:pathLst>
            </a:custGeom>
            <a:gradFill rotWithShape="1">
              <a:gsLst>
                <a:gs pos="0">
                  <a:srgbClr val="175DB7">
                    <a:alpha val="100000"/>
                  </a:srgbClr>
                </a:gs>
                <a:gs pos="100000">
                  <a:srgbClr val="13BFAF">
                    <a:alpha val="100000"/>
                  </a:srgbClr>
                </a:gs>
              </a:gsLst>
              <a:lin ang="5400000"/>
            </a:gradFill>
          </p:spPr>
          <p:txBody>
            <a:bodyPr/>
            <a:lstStyle/>
            <a:p>
              <a:endParaRPr lang="en-US" dirty="0"/>
            </a:p>
          </p:txBody>
        </p:sp>
        <p:sp>
          <p:nvSpPr>
            <p:cNvPr id="5" name="TextBox 5"/>
            <p:cNvSpPr txBox="1"/>
            <p:nvPr/>
          </p:nvSpPr>
          <p:spPr>
            <a:xfrm>
              <a:off x="0" y="-38100"/>
              <a:ext cx="145609" cy="163139"/>
            </a:xfrm>
            <a:prstGeom prst="rect">
              <a:avLst/>
            </a:prstGeom>
          </p:spPr>
          <p:txBody>
            <a:bodyPr lIns="362440" tIns="362440" rIns="362440" bIns="362440" rtlCol="0" anchor="ctr"/>
            <a:lstStyle/>
            <a:p>
              <a:pPr algn="ctr">
                <a:lnSpc>
                  <a:spcPts val="2659"/>
                </a:lnSpc>
              </a:pPr>
              <a:endParaRPr/>
            </a:p>
          </p:txBody>
        </p:sp>
      </p:grpSp>
      <p:grpSp>
        <p:nvGrpSpPr>
          <p:cNvPr id="6" name="Group 6"/>
          <p:cNvGrpSpPr/>
          <p:nvPr/>
        </p:nvGrpSpPr>
        <p:grpSpPr>
          <a:xfrm>
            <a:off x="1028700" y="5574650"/>
            <a:ext cx="3944468" cy="3387216"/>
            <a:chOff x="0" y="0"/>
            <a:chExt cx="145609" cy="125039"/>
          </a:xfrm>
        </p:grpSpPr>
        <p:sp>
          <p:nvSpPr>
            <p:cNvPr id="7" name="Freeform 7"/>
            <p:cNvSpPr/>
            <p:nvPr/>
          </p:nvSpPr>
          <p:spPr>
            <a:xfrm>
              <a:off x="0" y="0"/>
              <a:ext cx="145609" cy="125039"/>
            </a:xfrm>
            <a:custGeom>
              <a:avLst/>
              <a:gdLst/>
              <a:ahLst/>
              <a:cxnLst/>
              <a:rect l="l" t="t" r="r" b="b"/>
              <a:pathLst>
                <a:path w="145609" h="125039">
                  <a:moveTo>
                    <a:pt x="0" y="0"/>
                  </a:moveTo>
                  <a:lnTo>
                    <a:pt x="145609" y="0"/>
                  </a:lnTo>
                  <a:lnTo>
                    <a:pt x="145609" y="125039"/>
                  </a:lnTo>
                  <a:lnTo>
                    <a:pt x="0" y="125039"/>
                  </a:lnTo>
                  <a:close/>
                </a:path>
              </a:pathLst>
            </a:custGeom>
            <a:solidFill>
              <a:srgbClr val="232325"/>
            </a:solidFill>
          </p:spPr>
          <p:txBody>
            <a:bodyPr/>
            <a:lstStyle/>
            <a:p>
              <a:endParaRPr lang="en-US" dirty="0"/>
            </a:p>
          </p:txBody>
        </p:sp>
        <p:sp>
          <p:nvSpPr>
            <p:cNvPr id="8" name="TextBox 8"/>
            <p:cNvSpPr txBox="1"/>
            <p:nvPr/>
          </p:nvSpPr>
          <p:spPr>
            <a:xfrm>
              <a:off x="0" y="-38100"/>
              <a:ext cx="145609" cy="163139"/>
            </a:xfrm>
            <a:prstGeom prst="rect">
              <a:avLst/>
            </a:prstGeom>
          </p:spPr>
          <p:txBody>
            <a:bodyPr lIns="362440" tIns="362440" rIns="362440" bIns="362440" rtlCol="0" anchor="ctr"/>
            <a:lstStyle/>
            <a:p>
              <a:pPr algn="ctr">
                <a:lnSpc>
                  <a:spcPts val="2659"/>
                </a:lnSpc>
              </a:pPr>
              <a:endParaRPr/>
            </a:p>
          </p:txBody>
        </p:sp>
      </p:grpSp>
      <p:grpSp>
        <p:nvGrpSpPr>
          <p:cNvPr id="9" name="Group 9"/>
          <p:cNvGrpSpPr/>
          <p:nvPr/>
        </p:nvGrpSpPr>
        <p:grpSpPr>
          <a:xfrm>
            <a:off x="9219454" y="5574650"/>
            <a:ext cx="3944468" cy="3387216"/>
            <a:chOff x="0" y="0"/>
            <a:chExt cx="145609" cy="125039"/>
          </a:xfrm>
        </p:grpSpPr>
        <p:sp>
          <p:nvSpPr>
            <p:cNvPr id="10" name="Freeform 10"/>
            <p:cNvSpPr/>
            <p:nvPr/>
          </p:nvSpPr>
          <p:spPr>
            <a:xfrm>
              <a:off x="0" y="0"/>
              <a:ext cx="145609" cy="125039"/>
            </a:xfrm>
            <a:custGeom>
              <a:avLst/>
              <a:gdLst/>
              <a:ahLst/>
              <a:cxnLst/>
              <a:rect l="l" t="t" r="r" b="b"/>
              <a:pathLst>
                <a:path w="145609" h="125039">
                  <a:moveTo>
                    <a:pt x="0" y="0"/>
                  </a:moveTo>
                  <a:lnTo>
                    <a:pt x="145609" y="0"/>
                  </a:lnTo>
                  <a:lnTo>
                    <a:pt x="145609" y="125039"/>
                  </a:lnTo>
                  <a:lnTo>
                    <a:pt x="0" y="125039"/>
                  </a:lnTo>
                  <a:close/>
                </a:path>
              </a:pathLst>
            </a:custGeom>
            <a:solidFill>
              <a:srgbClr val="232325"/>
            </a:solidFill>
          </p:spPr>
          <p:txBody>
            <a:bodyPr/>
            <a:lstStyle/>
            <a:p>
              <a:endParaRPr lang="en-US"/>
            </a:p>
          </p:txBody>
        </p:sp>
        <p:sp>
          <p:nvSpPr>
            <p:cNvPr id="11" name="TextBox 11"/>
            <p:cNvSpPr txBox="1"/>
            <p:nvPr/>
          </p:nvSpPr>
          <p:spPr>
            <a:xfrm>
              <a:off x="0" y="-38100"/>
              <a:ext cx="145609" cy="163139"/>
            </a:xfrm>
            <a:prstGeom prst="rect">
              <a:avLst/>
            </a:prstGeom>
          </p:spPr>
          <p:txBody>
            <a:bodyPr lIns="362440" tIns="362440" rIns="362440" bIns="362440" rtlCol="0" anchor="ctr"/>
            <a:lstStyle/>
            <a:p>
              <a:pPr algn="ctr">
                <a:lnSpc>
                  <a:spcPts val="2659"/>
                </a:lnSpc>
              </a:pPr>
              <a:endParaRPr/>
            </a:p>
          </p:txBody>
        </p:sp>
      </p:grpSp>
      <p:grpSp>
        <p:nvGrpSpPr>
          <p:cNvPr id="12" name="Group 12"/>
          <p:cNvGrpSpPr/>
          <p:nvPr/>
        </p:nvGrpSpPr>
        <p:grpSpPr>
          <a:xfrm>
            <a:off x="13314832" y="5574650"/>
            <a:ext cx="3944468" cy="3387216"/>
            <a:chOff x="0" y="0"/>
            <a:chExt cx="145609" cy="125039"/>
          </a:xfrm>
        </p:grpSpPr>
        <p:sp>
          <p:nvSpPr>
            <p:cNvPr id="13" name="Freeform 13"/>
            <p:cNvSpPr/>
            <p:nvPr/>
          </p:nvSpPr>
          <p:spPr>
            <a:xfrm>
              <a:off x="0" y="0"/>
              <a:ext cx="145609" cy="125039"/>
            </a:xfrm>
            <a:custGeom>
              <a:avLst/>
              <a:gdLst/>
              <a:ahLst/>
              <a:cxnLst/>
              <a:rect l="l" t="t" r="r" b="b"/>
              <a:pathLst>
                <a:path w="145609" h="125039">
                  <a:moveTo>
                    <a:pt x="0" y="0"/>
                  </a:moveTo>
                  <a:lnTo>
                    <a:pt x="145609" y="0"/>
                  </a:lnTo>
                  <a:lnTo>
                    <a:pt x="145609" y="125039"/>
                  </a:lnTo>
                  <a:lnTo>
                    <a:pt x="0" y="125039"/>
                  </a:lnTo>
                  <a:close/>
                </a:path>
              </a:pathLst>
            </a:custGeom>
            <a:solidFill>
              <a:srgbClr val="232325"/>
            </a:solidFill>
          </p:spPr>
          <p:txBody>
            <a:bodyPr/>
            <a:lstStyle/>
            <a:p>
              <a:endParaRPr lang="en-US"/>
            </a:p>
          </p:txBody>
        </p:sp>
        <p:sp>
          <p:nvSpPr>
            <p:cNvPr id="14" name="TextBox 14"/>
            <p:cNvSpPr txBox="1"/>
            <p:nvPr/>
          </p:nvSpPr>
          <p:spPr>
            <a:xfrm>
              <a:off x="0" y="-38100"/>
              <a:ext cx="145609" cy="163139"/>
            </a:xfrm>
            <a:prstGeom prst="rect">
              <a:avLst/>
            </a:prstGeom>
          </p:spPr>
          <p:txBody>
            <a:bodyPr lIns="362440" tIns="362440" rIns="362440" bIns="362440" rtlCol="0" anchor="ctr"/>
            <a:lstStyle/>
            <a:p>
              <a:pPr algn="ctr">
                <a:lnSpc>
                  <a:spcPts val="2659"/>
                </a:lnSpc>
              </a:pPr>
              <a:endParaRPr/>
            </a:p>
          </p:txBody>
        </p:sp>
      </p:grpSp>
      <p:sp>
        <p:nvSpPr>
          <p:cNvPr id="15" name="TextBox 15"/>
          <p:cNvSpPr txBox="1"/>
          <p:nvPr/>
        </p:nvSpPr>
        <p:spPr>
          <a:xfrm>
            <a:off x="4099717" y="1036706"/>
            <a:ext cx="10538379" cy="930275"/>
          </a:xfrm>
          <a:prstGeom prst="rect">
            <a:avLst/>
          </a:prstGeom>
        </p:spPr>
        <p:txBody>
          <a:bodyPr lIns="0" tIns="0" rIns="0" bIns="0" rtlCol="0" anchor="t">
            <a:spAutoFit/>
          </a:bodyPr>
          <a:lstStyle/>
          <a:p>
            <a:pPr marL="0" lvl="0" indent="0" algn="ctr">
              <a:lnSpc>
                <a:spcPts val="6999"/>
              </a:lnSpc>
              <a:spcBef>
                <a:spcPct val="0"/>
              </a:spcBef>
            </a:pPr>
            <a:r>
              <a:rPr lang="en-US" sz="6999" b="1" dirty="0">
                <a:solidFill>
                  <a:srgbClr val="FFFFFF"/>
                </a:solidFill>
                <a:latin typeface="Montserrat Bold"/>
                <a:ea typeface="Montserrat Bold"/>
                <a:cs typeface="Montserrat Bold"/>
                <a:sym typeface="Montserrat Bold"/>
              </a:rPr>
              <a:t>Who is </a:t>
            </a:r>
            <a:r>
              <a:rPr lang="en-US" sz="6999" b="1" dirty="0" err="1">
                <a:solidFill>
                  <a:srgbClr val="FFFFFF"/>
                </a:solidFill>
                <a:latin typeface="Montserrat Bold"/>
                <a:ea typeface="Montserrat Bold"/>
                <a:cs typeface="Montserrat Bold"/>
                <a:sym typeface="Montserrat Bold"/>
              </a:rPr>
              <a:t>Lockbit</a:t>
            </a:r>
            <a:r>
              <a:rPr lang="en-US" sz="6999" b="1" dirty="0">
                <a:solidFill>
                  <a:srgbClr val="FFFFFF"/>
                </a:solidFill>
                <a:latin typeface="Montserrat Bold"/>
                <a:ea typeface="Montserrat Bold"/>
                <a:cs typeface="Montserrat Bold"/>
                <a:sym typeface="Montserrat Bold"/>
              </a:rPr>
              <a:t>?</a:t>
            </a:r>
          </a:p>
        </p:txBody>
      </p:sp>
      <p:sp>
        <p:nvSpPr>
          <p:cNvPr id="16" name="TextBox 16"/>
          <p:cNvSpPr txBox="1"/>
          <p:nvPr/>
        </p:nvSpPr>
        <p:spPr>
          <a:xfrm>
            <a:off x="2746421" y="2439426"/>
            <a:ext cx="13255579" cy="1540615"/>
          </a:xfrm>
          <a:prstGeom prst="rect">
            <a:avLst/>
          </a:prstGeom>
        </p:spPr>
        <p:txBody>
          <a:bodyPr wrap="square" lIns="0" tIns="0" rIns="0" bIns="0" rtlCol="0" anchor="t">
            <a:spAutoFit/>
          </a:bodyPr>
          <a:lstStyle/>
          <a:p>
            <a:pPr algn="ctr">
              <a:lnSpc>
                <a:spcPts val="6299"/>
              </a:lnSpc>
            </a:pPr>
            <a:r>
              <a:rPr lang="en-US" sz="4000" b="1" dirty="0">
                <a:solidFill>
                  <a:srgbClr val="37B4BE"/>
                </a:solidFill>
                <a:latin typeface="Montserrat Bold"/>
                <a:ea typeface="Montserrat Bold"/>
                <a:cs typeface="Montserrat Bold"/>
                <a:sym typeface="Montserrat Bold"/>
              </a:rPr>
              <a:t>A ransomware-as-a-service (RaaS) first identified in September 2019</a:t>
            </a:r>
          </a:p>
        </p:txBody>
      </p:sp>
      <p:sp>
        <p:nvSpPr>
          <p:cNvPr id="17" name="TextBox 17"/>
          <p:cNvSpPr txBox="1"/>
          <p:nvPr/>
        </p:nvSpPr>
        <p:spPr>
          <a:xfrm>
            <a:off x="1982131" y="4176042"/>
            <a:ext cx="14323738" cy="351891"/>
          </a:xfrm>
          <a:prstGeom prst="rect">
            <a:avLst/>
          </a:prstGeom>
        </p:spPr>
        <p:txBody>
          <a:bodyPr lIns="0" tIns="0" rIns="0" bIns="0" rtlCol="0" anchor="t">
            <a:spAutoFit/>
          </a:bodyPr>
          <a:lstStyle/>
          <a:p>
            <a:pPr algn="ctr">
              <a:lnSpc>
                <a:spcPts val="3000"/>
              </a:lnSpc>
            </a:pPr>
            <a:r>
              <a:rPr lang="en-US" sz="2000" dirty="0">
                <a:solidFill>
                  <a:srgbClr val="FFFFFF"/>
                </a:solidFill>
                <a:latin typeface="Montserrat"/>
                <a:ea typeface="Montserrat"/>
                <a:cs typeface="Montserrat"/>
                <a:sym typeface="Montserrat"/>
              </a:rPr>
              <a:t>Their motive is primarily financial gain through ransom payments</a:t>
            </a:r>
          </a:p>
        </p:txBody>
      </p:sp>
      <p:sp>
        <p:nvSpPr>
          <p:cNvPr id="18" name="TextBox 18"/>
          <p:cNvSpPr txBox="1"/>
          <p:nvPr/>
        </p:nvSpPr>
        <p:spPr>
          <a:xfrm>
            <a:off x="9547960" y="6001901"/>
            <a:ext cx="3287455" cy="304810"/>
          </a:xfrm>
          <a:prstGeom prst="rect">
            <a:avLst/>
          </a:prstGeom>
        </p:spPr>
        <p:txBody>
          <a:bodyPr lIns="0" tIns="0" rIns="0" bIns="0" rtlCol="0" anchor="t">
            <a:spAutoFit/>
          </a:bodyPr>
          <a:lstStyle/>
          <a:p>
            <a:pPr algn="ctr">
              <a:lnSpc>
                <a:spcPts val="2250"/>
              </a:lnSpc>
            </a:pPr>
            <a:r>
              <a:rPr lang="en-US" sz="2500" b="1" dirty="0">
                <a:solidFill>
                  <a:srgbClr val="FFFFFF"/>
                </a:solidFill>
                <a:latin typeface="Montserrat Bold"/>
                <a:ea typeface="Montserrat Bold"/>
                <a:cs typeface="Montserrat Bold"/>
                <a:sym typeface="Montserrat Bold"/>
              </a:rPr>
              <a:t>2022</a:t>
            </a:r>
          </a:p>
        </p:txBody>
      </p:sp>
      <p:sp>
        <p:nvSpPr>
          <p:cNvPr id="19" name="TextBox 19"/>
          <p:cNvSpPr txBox="1"/>
          <p:nvPr/>
        </p:nvSpPr>
        <p:spPr>
          <a:xfrm>
            <a:off x="9368907" y="6402967"/>
            <a:ext cx="3697811" cy="2275495"/>
          </a:xfrm>
          <a:prstGeom prst="rect">
            <a:avLst/>
          </a:prstGeom>
        </p:spPr>
        <p:txBody>
          <a:bodyPr lIns="0" tIns="0" rIns="0" bIns="0" rtlCol="0" anchor="t">
            <a:spAutoFit/>
          </a:bodyPr>
          <a:lstStyle/>
          <a:p>
            <a:pPr algn="ctr">
              <a:lnSpc>
                <a:spcPts val="3000"/>
              </a:lnSpc>
            </a:pPr>
            <a:r>
              <a:rPr lang="en-US" sz="2000" dirty="0">
                <a:solidFill>
                  <a:srgbClr val="FFFFFF"/>
                </a:solidFill>
                <a:latin typeface="Montserrat"/>
                <a:ea typeface="Montserrat"/>
                <a:cs typeface="Montserrat"/>
                <a:sym typeface="Montserrat"/>
              </a:rPr>
              <a:t>LockBit operators claimed responsibility for cyberattacks on many organizations with a ransom demand of $60 million—and launched LockBit 3.0.</a:t>
            </a:r>
          </a:p>
        </p:txBody>
      </p:sp>
      <p:sp>
        <p:nvSpPr>
          <p:cNvPr id="21" name="TextBox 21"/>
          <p:cNvSpPr txBox="1"/>
          <p:nvPr/>
        </p:nvSpPr>
        <p:spPr>
          <a:xfrm>
            <a:off x="5301674" y="5971685"/>
            <a:ext cx="3449975" cy="304810"/>
          </a:xfrm>
          <a:prstGeom prst="rect">
            <a:avLst/>
          </a:prstGeom>
        </p:spPr>
        <p:txBody>
          <a:bodyPr lIns="0" tIns="0" rIns="0" bIns="0" rtlCol="0" anchor="t">
            <a:spAutoFit/>
          </a:bodyPr>
          <a:lstStyle/>
          <a:p>
            <a:pPr algn="ctr">
              <a:lnSpc>
                <a:spcPts val="2250"/>
              </a:lnSpc>
            </a:pPr>
            <a:r>
              <a:rPr lang="en-US" sz="2500" b="1" dirty="0">
                <a:solidFill>
                  <a:srgbClr val="FFFFFF"/>
                </a:solidFill>
                <a:latin typeface="Montserrat Bold"/>
                <a:ea typeface="Montserrat Bold"/>
                <a:cs typeface="Montserrat Bold"/>
                <a:sym typeface="Montserrat Bold"/>
              </a:rPr>
              <a:t>2021</a:t>
            </a:r>
          </a:p>
        </p:txBody>
      </p:sp>
      <p:sp>
        <p:nvSpPr>
          <p:cNvPr id="22" name="TextBox 22"/>
          <p:cNvSpPr txBox="1"/>
          <p:nvPr/>
        </p:nvSpPr>
        <p:spPr>
          <a:xfrm>
            <a:off x="5237855" y="6383005"/>
            <a:ext cx="3697811" cy="1890774"/>
          </a:xfrm>
          <a:prstGeom prst="rect">
            <a:avLst/>
          </a:prstGeom>
        </p:spPr>
        <p:txBody>
          <a:bodyPr wrap="square" lIns="0" tIns="0" rIns="0" bIns="0" rtlCol="0" anchor="t">
            <a:spAutoFit/>
          </a:bodyPr>
          <a:lstStyle/>
          <a:p>
            <a:pPr algn="ctr">
              <a:lnSpc>
                <a:spcPts val="3000"/>
              </a:lnSpc>
            </a:pPr>
            <a:r>
              <a:rPr lang="en-US" sz="2000" dirty="0">
                <a:solidFill>
                  <a:srgbClr val="FFFFFF"/>
                </a:solidFill>
                <a:latin typeface="Montserrat"/>
                <a:ea typeface="Montserrat"/>
                <a:cs typeface="Montserrat"/>
                <a:sym typeface="Montserrat"/>
              </a:rPr>
              <a:t>LockBit 2.0 was launched, including a feature called </a:t>
            </a:r>
            <a:r>
              <a:rPr lang="en-US" sz="2000" dirty="0" err="1">
                <a:solidFill>
                  <a:srgbClr val="FFFFFF"/>
                </a:solidFill>
                <a:latin typeface="Montserrat"/>
                <a:ea typeface="Montserrat"/>
                <a:cs typeface="Montserrat"/>
                <a:sym typeface="Montserrat"/>
              </a:rPr>
              <a:t>StealBit</a:t>
            </a:r>
            <a:r>
              <a:rPr lang="en-US" sz="2000" dirty="0">
                <a:solidFill>
                  <a:srgbClr val="FFFFFF"/>
                </a:solidFill>
                <a:latin typeface="Montserrat"/>
                <a:ea typeface="Montserrat"/>
                <a:cs typeface="Montserrat"/>
                <a:sym typeface="Montserrat"/>
              </a:rPr>
              <a:t>, an infostealer that could disguise itself to gather sensitive data </a:t>
            </a:r>
          </a:p>
        </p:txBody>
      </p:sp>
      <p:sp>
        <p:nvSpPr>
          <p:cNvPr id="25" name="TextBox 25"/>
          <p:cNvSpPr txBox="1"/>
          <p:nvPr/>
        </p:nvSpPr>
        <p:spPr>
          <a:xfrm>
            <a:off x="1357206" y="5969446"/>
            <a:ext cx="3287455" cy="300403"/>
          </a:xfrm>
          <a:prstGeom prst="rect">
            <a:avLst/>
          </a:prstGeom>
        </p:spPr>
        <p:txBody>
          <a:bodyPr lIns="0" tIns="0" rIns="0" bIns="0" rtlCol="0" anchor="t">
            <a:spAutoFit/>
          </a:bodyPr>
          <a:lstStyle/>
          <a:p>
            <a:pPr algn="ctr">
              <a:lnSpc>
                <a:spcPts val="2250"/>
              </a:lnSpc>
            </a:pPr>
            <a:r>
              <a:rPr lang="en-US" sz="2500" b="1" dirty="0">
                <a:solidFill>
                  <a:srgbClr val="FFFFFF"/>
                </a:solidFill>
                <a:latin typeface="Montserrat Bold"/>
                <a:ea typeface="Montserrat Bold"/>
                <a:cs typeface="Montserrat Bold"/>
                <a:sym typeface="Montserrat Bold"/>
              </a:rPr>
              <a:t>2020</a:t>
            </a:r>
          </a:p>
        </p:txBody>
      </p:sp>
      <p:sp>
        <p:nvSpPr>
          <p:cNvPr id="28" name="TextBox 28"/>
          <p:cNvSpPr txBox="1"/>
          <p:nvPr/>
        </p:nvSpPr>
        <p:spPr>
          <a:xfrm>
            <a:off x="13661036" y="6057680"/>
            <a:ext cx="3269758" cy="304810"/>
          </a:xfrm>
          <a:prstGeom prst="rect">
            <a:avLst/>
          </a:prstGeom>
        </p:spPr>
        <p:txBody>
          <a:bodyPr lIns="0" tIns="0" rIns="0" bIns="0" rtlCol="0" anchor="t">
            <a:spAutoFit/>
          </a:bodyPr>
          <a:lstStyle/>
          <a:p>
            <a:pPr algn="ctr">
              <a:lnSpc>
                <a:spcPts val="2250"/>
              </a:lnSpc>
            </a:pPr>
            <a:r>
              <a:rPr lang="en-US" sz="2500" b="1" dirty="0">
                <a:solidFill>
                  <a:srgbClr val="FFFFFF"/>
                </a:solidFill>
                <a:latin typeface="Montserrat Bold"/>
                <a:ea typeface="Montserrat Bold"/>
                <a:cs typeface="Montserrat Bold"/>
                <a:sym typeface="Montserrat Bold"/>
              </a:rPr>
              <a:t>2023</a:t>
            </a:r>
          </a:p>
        </p:txBody>
      </p:sp>
      <p:sp>
        <p:nvSpPr>
          <p:cNvPr id="29" name="TextBox 29"/>
          <p:cNvSpPr txBox="1"/>
          <p:nvPr/>
        </p:nvSpPr>
        <p:spPr>
          <a:xfrm>
            <a:off x="13333931" y="6524430"/>
            <a:ext cx="3925369" cy="1890774"/>
          </a:xfrm>
          <a:prstGeom prst="rect">
            <a:avLst/>
          </a:prstGeom>
        </p:spPr>
        <p:txBody>
          <a:bodyPr wrap="square" lIns="0" tIns="0" rIns="0" bIns="0" rtlCol="0" anchor="t">
            <a:spAutoFit/>
          </a:bodyPr>
          <a:lstStyle/>
          <a:p>
            <a:pPr algn="ctr">
              <a:lnSpc>
                <a:spcPts val="3000"/>
              </a:lnSpc>
            </a:pPr>
            <a:r>
              <a:rPr lang="en-US" sz="2000" dirty="0">
                <a:solidFill>
                  <a:srgbClr val="FFFFFF"/>
                </a:solidFill>
                <a:latin typeface="Montserrat"/>
                <a:ea typeface="Montserrat"/>
                <a:cs typeface="Montserrat"/>
                <a:sym typeface="Montserrat"/>
              </a:rPr>
              <a:t>French-based brand </a:t>
            </a:r>
            <a:r>
              <a:rPr lang="en-US" sz="2000" dirty="0" err="1">
                <a:solidFill>
                  <a:srgbClr val="FFFFFF"/>
                </a:solidFill>
                <a:latin typeface="Montserrat"/>
                <a:ea typeface="Montserrat"/>
                <a:cs typeface="Montserrat"/>
                <a:sym typeface="Montserrat"/>
              </a:rPr>
              <a:t>Nuxe</a:t>
            </a:r>
            <a:r>
              <a:rPr lang="en-US" sz="2000" dirty="0">
                <a:solidFill>
                  <a:srgbClr val="FFFFFF"/>
                </a:solidFill>
                <a:latin typeface="Montserrat"/>
                <a:ea typeface="Montserrat"/>
                <a:cs typeface="Montserrat"/>
                <a:sym typeface="Montserrat"/>
              </a:rPr>
              <a:t> claimed to have been targeted by LockBit attacks, along with the UK’s Royal Mail, and countless more.</a:t>
            </a:r>
          </a:p>
        </p:txBody>
      </p:sp>
      <p:sp>
        <p:nvSpPr>
          <p:cNvPr id="30" name="TextBox 22">
            <a:extLst>
              <a:ext uri="{FF2B5EF4-FFF2-40B4-BE49-F238E27FC236}">
                <a16:creationId xmlns:a16="http://schemas.microsoft.com/office/drawing/2014/main" id="{A035C9B6-1E11-8671-0545-23FF2E70E803}"/>
              </a:ext>
            </a:extLst>
          </p:cNvPr>
          <p:cNvSpPr txBox="1"/>
          <p:nvPr/>
        </p:nvSpPr>
        <p:spPr>
          <a:xfrm>
            <a:off x="1028700" y="6324390"/>
            <a:ext cx="3925367" cy="2275495"/>
          </a:xfrm>
          <a:prstGeom prst="rect">
            <a:avLst/>
          </a:prstGeom>
        </p:spPr>
        <p:txBody>
          <a:bodyPr wrap="square" lIns="0" tIns="0" rIns="0" bIns="0" rtlCol="0" anchor="t">
            <a:spAutoFit/>
          </a:bodyPr>
          <a:lstStyle/>
          <a:p>
            <a:pPr algn="ctr">
              <a:lnSpc>
                <a:spcPts val="3000"/>
              </a:lnSpc>
            </a:pPr>
            <a:r>
              <a:rPr lang="en-US" sz="2000" dirty="0">
                <a:solidFill>
                  <a:srgbClr val="FFFFFF"/>
                </a:solidFill>
                <a:latin typeface="Montserrat"/>
                <a:ea typeface="Montserrat"/>
                <a:cs typeface="Montserrat"/>
                <a:sym typeface="Montserrat"/>
              </a:rPr>
              <a:t>The name ‘LockBit’ emerged, and the group created its on website, with posts in Russian and English (although it claimed to be based in the Netherlands)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p:cNvGrpSpPr/>
        <p:nvPr/>
      </p:nvGrpSpPr>
      <p:grpSpPr>
        <a:xfrm>
          <a:off x="0" y="0"/>
          <a:ext cx="0" cy="0"/>
          <a:chOff x="0" y="0"/>
          <a:chExt cx="0" cy="0"/>
        </a:xfrm>
      </p:grpSpPr>
      <p:sp>
        <p:nvSpPr>
          <p:cNvPr id="7" name="Freeform 7"/>
          <p:cNvSpPr/>
          <p:nvPr/>
        </p:nvSpPr>
        <p:spPr>
          <a:xfrm rot="-10800000">
            <a:off x="-3192597" y="9179437"/>
            <a:ext cx="6385195" cy="928756"/>
          </a:xfrm>
          <a:custGeom>
            <a:avLst/>
            <a:gdLst/>
            <a:ahLst/>
            <a:cxnLst/>
            <a:rect l="l" t="t" r="r" b="b"/>
            <a:pathLst>
              <a:path w="6385195" h="928756">
                <a:moveTo>
                  <a:pt x="0" y="0"/>
                </a:moveTo>
                <a:lnTo>
                  <a:pt x="6385194" y="0"/>
                </a:lnTo>
                <a:lnTo>
                  <a:pt x="6385194" y="928755"/>
                </a:lnTo>
                <a:lnTo>
                  <a:pt x="0" y="9287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457200" y="4744869"/>
            <a:ext cx="398631" cy="398631"/>
          </a:xfrm>
          <a:custGeom>
            <a:avLst/>
            <a:gdLst/>
            <a:ahLst/>
            <a:cxnLst/>
            <a:rect l="l" t="t" r="r" b="b"/>
            <a:pathLst>
              <a:path w="398631" h="398631">
                <a:moveTo>
                  <a:pt x="0" y="0"/>
                </a:moveTo>
                <a:lnTo>
                  <a:pt x="398631" y="0"/>
                </a:lnTo>
                <a:lnTo>
                  <a:pt x="398631" y="398630"/>
                </a:lnTo>
                <a:lnTo>
                  <a:pt x="0" y="3986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9"/>
          <p:cNvSpPr txBox="1"/>
          <p:nvPr/>
        </p:nvSpPr>
        <p:spPr>
          <a:xfrm>
            <a:off x="1028700" y="1219200"/>
            <a:ext cx="11483122" cy="827727"/>
          </a:xfrm>
          <a:prstGeom prst="rect">
            <a:avLst/>
          </a:prstGeom>
        </p:spPr>
        <p:txBody>
          <a:bodyPr lIns="0" tIns="0" rIns="0" bIns="0" rtlCol="0" anchor="t">
            <a:spAutoFit/>
          </a:bodyPr>
          <a:lstStyle/>
          <a:p>
            <a:pPr algn="l">
              <a:lnSpc>
                <a:spcPts val="6300"/>
              </a:lnSpc>
            </a:pPr>
            <a:r>
              <a:rPr lang="en-US" sz="7000" b="1" dirty="0">
                <a:solidFill>
                  <a:srgbClr val="FFFFFF"/>
                </a:solidFill>
                <a:latin typeface="Montserrat Bold"/>
                <a:ea typeface="Montserrat Bold"/>
                <a:cs typeface="Montserrat Bold"/>
                <a:sym typeface="Montserrat Bold"/>
              </a:rPr>
              <a:t>Let’s get serious..</a:t>
            </a:r>
          </a:p>
        </p:txBody>
      </p:sp>
      <p:sp>
        <p:nvSpPr>
          <p:cNvPr id="10" name="TextBox 10"/>
          <p:cNvSpPr txBox="1"/>
          <p:nvPr/>
        </p:nvSpPr>
        <p:spPr>
          <a:xfrm>
            <a:off x="1028700" y="2047233"/>
            <a:ext cx="11483122" cy="1795363"/>
          </a:xfrm>
          <a:prstGeom prst="rect">
            <a:avLst/>
          </a:prstGeom>
        </p:spPr>
        <p:txBody>
          <a:bodyPr lIns="0" tIns="0" rIns="0" bIns="0" rtlCol="0" anchor="t">
            <a:spAutoFit/>
          </a:bodyPr>
          <a:lstStyle/>
          <a:p>
            <a:pPr algn="l">
              <a:lnSpc>
                <a:spcPts val="7000"/>
              </a:lnSpc>
            </a:pPr>
            <a:r>
              <a:rPr lang="en-US" sz="7000" b="1" dirty="0">
                <a:solidFill>
                  <a:srgbClr val="37B4BE"/>
                </a:solidFill>
                <a:latin typeface="Montserrat Bold"/>
                <a:ea typeface="Montserrat Bold"/>
                <a:cs typeface="Montserrat Bold"/>
                <a:sym typeface="Montserrat Bold"/>
              </a:rPr>
              <a:t>What makes them dangerous?</a:t>
            </a:r>
          </a:p>
        </p:txBody>
      </p:sp>
      <p:sp>
        <p:nvSpPr>
          <p:cNvPr id="15" name="Freeform 8">
            <a:extLst>
              <a:ext uri="{FF2B5EF4-FFF2-40B4-BE49-F238E27FC236}">
                <a16:creationId xmlns:a16="http://schemas.microsoft.com/office/drawing/2014/main" id="{91346859-DBAF-D481-A1A9-E440417FBA7F}"/>
              </a:ext>
            </a:extLst>
          </p:cNvPr>
          <p:cNvSpPr/>
          <p:nvPr/>
        </p:nvSpPr>
        <p:spPr>
          <a:xfrm>
            <a:off x="457200" y="6112385"/>
            <a:ext cx="398631" cy="398631"/>
          </a:xfrm>
          <a:custGeom>
            <a:avLst/>
            <a:gdLst/>
            <a:ahLst/>
            <a:cxnLst/>
            <a:rect l="l" t="t" r="r" b="b"/>
            <a:pathLst>
              <a:path w="398631" h="398631">
                <a:moveTo>
                  <a:pt x="0" y="0"/>
                </a:moveTo>
                <a:lnTo>
                  <a:pt x="398631" y="0"/>
                </a:lnTo>
                <a:lnTo>
                  <a:pt x="398631" y="398630"/>
                </a:lnTo>
                <a:lnTo>
                  <a:pt x="0" y="3986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8">
            <a:extLst>
              <a:ext uri="{FF2B5EF4-FFF2-40B4-BE49-F238E27FC236}">
                <a16:creationId xmlns:a16="http://schemas.microsoft.com/office/drawing/2014/main" id="{5863AA6D-1CFC-81C8-9F1F-2D68D9D29FD1}"/>
              </a:ext>
            </a:extLst>
          </p:cNvPr>
          <p:cNvSpPr/>
          <p:nvPr/>
        </p:nvSpPr>
        <p:spPr>
          <a:xfrm>
            <a:off x="457200" y="7679779"/>
            <a:ext cx="398631" cy="398631"/>
          </a:xfrm>
          <a:custGeom>
            <a:avLst/>
            <a:gdLst/>
            <a:ahLst/>
            <a:cxnLst/>
            <a:rect l="l" t="t" r="r" b="b"/>
            <a:pathLst>
              <a:path w="398631" h="398631">
                <a:moveTo>
                  <a:pt x="0" y="0"/>
                </a:moveTo>
                <a:lnTo>
                  <a:pt x="398631" y="0"/>
                </a:lnTo>
                <a:lnTo>
                  <a:pt x="398631" y="398630"/>
                </a:lnTo>
                <a:lnTo>
                  <a:pt x="0" y="3986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0" name="TextBox 19">
            <a:extLst>
              <a:ext uri="{FF2B5EF4-FFF2-40B4-BE49-F238E27FC236}">
                <a16:creationId xmlns:a16="http://schemas.microsoft.com/office/drawing/2014/main" id="{C7368F58-9F59-36D8-8E95-93ADB703D12F}"/>
              </a:ext>
            </a:extLst>
          </p:cNvPr>
          <p:cNvSpPr txBox="1"/>
          <p:nvPr/>
        </p:nvSpPr>
        <p:spPr>
          <a:xfrm>
            <a:off x="1219200" y="4753448"/>
            <a:ext cx="8839200" cy="954107"/>
          </a:xfrm>
          <a:prstGeom prst="rect">
            <a:avLst/>
          </a:prstGeom>
          <a:noFill/>
        </p:spPr>
        <p:txBody>
          <a:bodyPr wrap="square" rtlCol="0">
            <a:spAutoFit/>
          </a:bodyPr>
          <a:lstStyle/>
          <a:p>
            <a:r>
              <a:rPr lang="en-US" sz="2800" b="1" dirty="0">
                <a:solidFill>
                  <a:schemeClr val="bg1"/>
                </a:solidFill>
                <a:latin typeface="Montserrat" pitchFamily="2" charset="77"/>
              </a:rPr>
              <a:t>Ransom Demands</a:t>
            </a:r>
            <a:r>
              <a:rPr lang="en-US" sz="2800" dirty="0">
                <a:solidFill>
                  <a:schemeClr val="bg1"/>
                </a:solidFill>
                <a:latin typeface="Montserrat" pitchFamily="2" charset="77"/>
              </a:rPr>
              <a:t>: Victims pay $40,000 on average</a:t>
            </a:r>
          </a:p>
        </p:txBody>
      </p:sp>
      <p:sp>
        <p:nvSpPr>
          <p:cNvPr id="23" name="TextBox 22">
            <a:extLst>
              <a:ext uri="{FF2B5EF4-FFF2-40B4-BE49-F238E27FC236}">
                <a16:creationId xmlns:a16="http://schemas.microsoft.com/office/drawing/2014/main" id="{01BA7B37-3519-EE18-8361-EF37C590AE71}"/>
              </a:ext>
            </a:extLst>
          </p:cNvPr>
          <p:cNvSpPr txBox="1"/>
          <p:nvPr/>
        </p:nvSpPr>
        <p:spPr>
          <a:xfrm>
            <a:off x="1150636" y="6127034"/>
            <a:ext cx="7383763" cy="954107"/>
          </a:xfrm>
          <a:prstGeom prst="rect">
            <a:avLst/>
          </a:prstGeom>
          <a:noFill/>
        </p:spPr>
        <p:txBody>
          <a:bodyPr wrap="square" rtlCol="0">
            <a:spAutoFit/>
          </a:bodyPr>
          <a:lstStyle/>
          <a:p>
            <a:r>
              <a:rPr lang="en-US" sz="2800" b="1" dirty="0">
                <a:solidFill>
                  <a:schemeClr val="bg1"/>
                </a:solidFill>
                <a:latin typeface="Montserrat" pitchFamily="2" charset="77"/>
              </a:rPr>
              <a:t>Double Extortion: </a:t>
            </a:r>
            <a:r>
              <a:rPr lang="en-US" sz="2800" dirty="0">
                <a:solidFill>
                  <a:schemeClr val="bg1"/>
                </a:solidFill>
                <a:latin typeface="Montserrat" pitchFamily="2" charset="77"/>
              </a:rPr>
              <a:t>"Pay us, or we’ll leak your files online!" </a:t>
            </a:r>
          </a:p>
        </p:txBody>
      </p:sp>
      <p:sp>
        <p:nvSpPr>
          <p:cNvPr id="26" name="TextBox 25">
            <a:extLst>
              <a:ext uri="{FF2B5EF4-FFF2-40B4-BE49-F238E27FC236}">
                <a16:creationId xmlns:a16="http://schemas.microsoft.com/office/drawing/2014/main" id="{26954C65-A0FD-FC41-0E62-CBD7EFE9CFB5}"/>
              </a:ext>
            </a:extLst>
          </p:cNvPr>
          <p:cNvSpPr txBox="1"/>
          <p:nvPr/>
        </p:nvSpPr>
        <p:spPr>
          <a:xfrm>
            <a:off x="1205539" y="7705114"/>
            <a:ext cx="7383763" cy="954107"/>
          </a:xfrm>
          <a:prstGeom prst="rect">
            <a:avLst/>
          </a:prstGeom>
          <a:noFill/>
        </p:spPr>
        <p:txBody>
          <a:bodyPr wrap="square" rtlCol="0">
            <a:spAutoFit/>
          </a:bodyPr>
          <a:lstStyle/>
          <a:p>
            <a:r>
              <a:rPr lang="en-US" sz="2800" b="1" dirty="0">
                <a:solidFill>
                  <a:schemeClr val="bg1"/>
                </a:solidFill>
                <a:latin typeface="Montserrat" pitchFamily="2" charset="77"/>
              </a:rPr>
              <a:t>Affiliate Program: </a:t>
            </a:r>
            <a:r>
              <a:rPr lang="en-US" sz="2800" dirty="0">
                <a:solidFill>
                  <a:schemeClr val="bg1"/>
                </a:solidFill>
                <a:latin typeface="Montserrat" pitchFamily="2" charset="77"/>
              </a:rPr>
              <a:t>Hackers earn 80% of ransoms they collect</a:t>
            </a:r>
          </a:p>
        </p:txBody>
      </p:sp>
      <p:sp>
        <p:nvSpPr>
          <p:cNvPr id="30" name="Freeform 7">
            <a:extLst>
              <a:ext uri="{FF2B5EF4-FFF2-40B4-BE49-F238E27FC236}">
                <a16:creationId xmlns:a16="http://schemas.microsoft.com/office/drawing/2014/main" id="{73D564C4-2085-BEC1-6DFE-F098C3C14382}"/>
              </a:ext>
            </a:extLst>
          </p:cNvPr>
          <p:cNvSpPr/>
          <p:nvPr/>
        </p:nvSpPr>
        <p:spPr>
          <a:xfrm rot="-10800000">
            <a:off x="9787470" y="179342"/>
            <a:ext cx="8500530" cy="1188528"/>
          </a:xfrm>
          <a:custGeom>
            <a:avLst/>
            <a:gdLst/>
            <a:ahLst/>
            <a:cxnLst/>
            <a:rect l="l" t="t" r="r" b="b"/>
            <a:pathLst>
              <a:path w="6385195" h="928756">
                <a:moveTo>
                  <a:pt x="0" y="0"/>
                </a:moveTo>
                <a:lnTo>
                  <a:pt x="6385194" y="0"/>
                </a:lnTo>
                <a:lnTo>
                  <a:pt x="6385194" y="928755"/>
                </a:lnTo>
                <a:lnTo>
                  <a:pt x="0" y="9287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1026" name="Picture 2" descr="LockBit Ransomware – What We Need To ...">
            <a:extLst>
              <a:ext uri="{FF2B5EF4-FFF2-40B4-BE49-F238E27FC236}">
                <a16:creationId xmlns:a16="http://schemas.microsoft.com/office/drawing/2014/main" id="{EBABEAD3-7AA9-B104-A6F3-614070C834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26998" y="559113"/>
            <a:ext cx="7103801" cy="477160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LockBit 3.0 Ransomware - Decryption, removal, and lost files recovery  (updated)">
            <a:hlinkClick r:id="rId7"/>
            <a:extLst>
              <a:ext uri="{FF2B5EF4-FFF2-40B4-BE49-F238E27FC236}">
                <a16:creationId xmlns:a16="http://schemas.microsoft.com/office/drawing/2014/main" id="{B70C064B-253C-BBF3-64C7-678624E0CCA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26998" y="5784564"/>
            <a:ext cx="7103801" cy="6168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p:cNvGrpSpPr/>
        <p:nvPr/>
      </p:nvGrpSpPr>
      <p:grpSpPr>
        <a:xfrm>
          <a:off x="0" y="0"/>
          <a:ext cx="0" cy="0"/>
          <a:chOff x="0" y="0"/>
          <a:chExt cx="0" cy="0"/>
        </a:xfrm>
      </p:grpSpPr>
      <p:grpSp>
        <p:nvGrpSpPr>
          <p:cNvPr id="2" name="Group 2"/>
          <p:cNvGrpSpPr/>
          <p:nvPr/>
        </p:nvGrpSpPr>
        <p:grpSpPr>
          <a:xfrm>
            <a:off x="10352943" y="4111238"/>
            <a:ext cx="6906357" cy="2065764"/>
            <a:chOff x="0" y="0"/>
            <a:chExt cx="254947" cy="76257"/>
          </a:xfrm>
        </p:grpSpPr>
        <p:sp>
          <p:nvSpPr>
            <p:cNvPr id="3" name="Freeform 3"/>
            <p:cNvSpPr/>
            <p:nvPr/>
          </p:nvSpPr>
          <p:spPr>
            <a:xfrm>
              <a:off x="0" y="0"/>
              <a:ext cx="254947" cy="76257"/>
            </a:xfrm>
            <a:custGeom>
              <a:avLst/>
              <a:gdLst/>
              <a:ahLst/>
              <a:cxnLst/>
              <a:rect l="l" t="t" r="r" b="b"/>
              <a:pathLst>
                <a:path w="254947" h="76257">
                  <a:moveTo>
                    <a:pt x="0" y="0"/>
                  </a:moveTo>
                  <a:lnTo>
                    <a:pt x="254947" y="0"/>
                  </a:lnTo>
                  <a:lnTo>
                    <a:pt x="254947" y="76257"/>
                  </a:lnTo>
                  <a:lnTo>
                    <a:pt x="0" y="76257"/>
                  </a:lnTo>
                  <a:close/>
                </a:path>
              </a:pathLst>
            </a:custGeom>
            <a:solidFill>
              <a:srgbClr val="232325"/>
            </a:solidFill>
          </p:spPr>
          <p:txBody>
            <a:bodyPr/>
            <a:lstStyle/>
            <a:p>
              <a:endParaRPr lang="en-US" dirty="0"/>
            </a:p>
          </p:txBody>
        </p:sp>
        <p:sp>
          <p:nvSpPr>
            <p:cNvPr id="4" name="TextBox 4"/>
            <p:cNvSpPr txBox="1"/>
            <p:nvPr/>
          </p:nvSpPr>
          <p:spPr>
            <a:xfrm>
              <a:off x="0" y="-38100"/>
              <a:ext cx="254947" cy="114357"/>
            </a:xfrm>
            <a:prstGeom prst="rect">
              <a:avLst/>
            </a:prstGeom>
          </p:spPr>
          <p:txBody>
            <a:bodyPr lIns="362440" tIns="362440" rIns="362440" bIns="362440" rtlCol="0" anchor="ctr"/>
            <a:lstStyle/>
            <a:p>
              <a:pPr algn="ctr">
                <a:lnSpc>
                  <a:spcPts val="2660"/>
                </a:lnSpc>
              </a:pPr>
              <a:endParaRPr/>
            </a:p>
          </p:txBody>
        </p:sp>
      </p:grpSp>
      <p:grpSp>
        <p:nvGrpSpPr>
          <p:cNvPr id="5" name="Group 5"/>
          <p:cNvGrpSpPr/>
          <p:nvPr/>
        </p:nvGrpSpPr>
        <p:grpSpPr>
          <a:xfrm>
            <a:off x="10352943" y="6446972"/>
            <a:ext cx="6906357" cy="2065764"/>
            <a:chOff x="0" y="0"/>
            <a:chExt cx="254947" cy="76257"/>
          </a:xfrm>
        </p:grpSpPr>
        <p:sp>
          <p:nvSpPr>
            <p:cNvPr id="6" name="Freeform 6"/>
            <p:cNvSpPr/>
            <p:nvPr/>
          </p:nvSpPr>
          <p:spPr>
            <a:xfrm>
              <a:off x="0" y="0"/>
              <a:ext cx="254947" cy="76257"/>
            </a:xfrm>
            <a:custGeom>
              <a:avLst/>
              <a:gdLst/>
              <a:ahLst/>
              <a:cxnLst/>
              <a:rect l="l" t="t" r="r" b="b"/>
              <a:pathLst>
                <a:path w="254947" h="76257">
                  <a:moveTo>
                    <a:pt x="0" y="0"/>
                  </a:moveTo>
                  <a:lnTo>
                    <a:pt x="254947" y="0"/>
                  </a:lnTo>
                  <a:lnTo>
                    <a:pt x="254947" y="76257"/>
                  </a:lnTo>
                  <a:lnTo>
                    <a:pt x="0" y="76257"/>
                  </a:lnTo>
                  <a:close/>
                </a:path>
              </a:pathLst>
            </a:custGeom>
            <a:solidFill>
              <a:srgbClr val="232325"/>
            </a:solidFill>
          </p:spPr>
          <p:txBody>
            <a:bodyPr/>
            <a:lstStyle/>
            <a:p>
              <a:endParaRPr lang="en-US"/>
            </a:p>
          </p:txBody>
        </p:sp>
        <p:sp>
          <p:nvSpPr>
            <p:cNvPr id="7" name="TextBox 7"/>
            <p:cNvSpPr txBox="1"/>
            <p:nvPr/>
          </p:nvSpPr>
          <p:spPr>
            <a:xfrm>
              <a:off x="0" y="-38100"/>
              <a:ext cx="254947" cy="114357"/>
            </a:xfrm>
            <a:prstGeom prst="rect">
              <a:avLst/>
            </a:prstGeom>
          </p:spPr>
          <p:txBody>
            <a:bodyPr lIns="362440" tIns="362440" rIns="362440" bIns="362440" rtlCol="0" anchor="ctr"/>
            <a:lstStyle/>
            <a:p>
              <a:pPr algn="ctr">
                <a:lnSpc>
                  <a:spcPts val="2660"/>
                </a:lnSpc>
              </a:pPr>
              <a:endParaRPr/>
            </a:p>
          </p:txBody>
        </p:sp>
      </p:grpSp>
      <p:grpSp>
        <p:nvGrpSpPr>
          <p:cNvPr id="8" name="Group 8"/>
          <p:cNvGrpSpPr/>
          <p:nvPr/>
        </p:nvGrpSpPr>
        <p:grpSpPr>
          <a:xfrm>
            <a:off x="10372726" y="1766779"/>
            <a:ext cx="6906357" cy="2065764"/>
            <a:chOff x="0" y="0"/>
            <a:chExt cx="254947" cy="76257"/>
          </a:xfrm>
        </p:grpSpPr>
        <p:sp>
          <p:nvSpPr>
            <p:cNvPr id="9" name="Freeform 9"/>
            <p:cNvSpPr/>
            <p:nvPr/>
          </p:nvSpPr>
          <p:spPr>
            <a:xfrm>
              <a:off x="0" y="0"/>
              <a:ext cx="254947" cy="76257"/>
            </a:xfrm>
            <a:custGeom>
              <a:avLst/>
              <a:gdLst/>
              <a:ahLst/>
              <a:cxnLst/>
              <a:rect l="l" t="t" r="r" b="b"/>
              <a:pathLst>
                <a:path w="254947" h="76257">
                  <a:moveTo>
                    <a:pt x="0" y="0"/>
                  </a:moveTo>
                  <a:lnTo>
                    <a:pt x="254947" y="0"/>
                  </a:lnTo>
                  <a:lnTo>
                    <a:pt x="254947" y="76257"/>
                  </a:lnTo>
                  <a:lnTo>
                    <a:pt x="0" y="76257"/>
                  </a:lnTo>
                  <a:close/>
                </a:path>
              </a:pathLst>
            </a:custGeom>
            <a:solidFill>
              <a:srgbClr val="232325"/>
            </a:solidFill>
          </p:spPr>
          <p:txBody>
            <a:bodyPr/>
            <a:lstStyle/>
            <a:p>
              <a:endParaRPr lang="en-US"/>
            </a:p>
          </p:txBody>
        </p:sp>
        <p:sp>
          <p:nvSpPr>
            <p:cNvPr id="10" name="TextBox 10"/>
            <p:cNvSpPr txBox="1"/>
            <p:nvPr/>
          </p:nvSpPr>
          <p:spPr>
            <a:xfrm>
              <a:off x="0" y="-38100"/>
              <a:ext cx="254947" cy="114357"/>
            </a:xfrm>
            <a:prstGeom prst="rect">
              <a:avLst/>
            </a:prstGeom>
          </p:spPr>
          <p:txBody>
            <a:bodyPr lIns="362440" tIns="362440" rIns="362440" bIns="362440" rtlCol="0" anchor="ctr"/>
            <a:lstStyle/>
            <a:p>
              <a:pPr algn="ctr">
                <a:lnSpc>
                  <a:spcPts val="2660"/>
                </a:lnSpc>
              </a:pPr>
              <a:endParaRPr/>
            </a:p>
          </p:txBody>
        </p:sp>
      </p:grpSp>
      <p:grpSp>
        <p:nvGrpSpPr>
          <p:cNvPr id="11" name="Group 11"/>
          <p:cNvGrpSpPr/>
          <p:nvPr/>
        </p:nvGrpSpPr>
        <p:grpSpPr>
          <a:xfrm>
            <a:off x="10352943" y="4111238"/>
            <a:ext cx="1766486" cy="2065764"/>
            <a:chOff x="0" y="0"/>
            <a:chExt cx="65210" cy="76257"/>
          </a:xfrm>
        </p:grpSpPr>
        <p:sp>
          <p:nvSpPr>
            <p:cNvPr id="12" name="Freeform 12"/>
            <p:cNvSpPr/>
            <p:nvPr/>
          </p:nvSpPr>
          <p:spPr>
            <a:xfrm>
              <a:off x="0" y="0"/>
              <a:ext cx="65210" cy="76257"/>
            </a:xfrm>
            <a:custGeom>
              <a:avLst/>
              <a:gdLst/>
              <a:ahLst/>
              <a:cxnLst/>
              <a:rect l="l" t="t" r="r" b="b"/>
              <a:pathLst>
                <a:path w="65210" h="76257">
                  <a:moveTo>
                    <a:pt x="0" y="0"/>
                  </a:moveTo>
                  <a:lnTo>
                    <a:pt x="65210" y="0"/>
                  </a:lnTo>
                  <a:lnTo>
                    <a:pt x="65210" y="76257"/>
                  </a:lnTo>
                  <a:lnTo>
                    <a:pt x="0" y="76257"/>
                  </a:lnTo>
                  <a:close/>
                </a:path>
              </a:pathLst>
            </a:custGeom>
            <a:gradFill rotWithShape="1">
              <a:gsLst>
                <a:gs pos="0">
                  <a:srgbClr val="175DB7">
                    <a:alpha val="100000"/>
                  </a:srgbClr>
                </a:gs>
                <a:gs pos="100000">
                  <a:srgbClr val="13BFAF">
                    <a:alpha val="100000"/>
                  </a:srgbClr>
                </a:gs>
              </a:gsLst>
              <a:lin ang="0"/>
            </a:gradFill>
          </p:spPr>
          <p:txBody>
            <a:bodyPr/>
            <a:lstStyle/>
            <a:p>
              <a:endParaRPr lang="en-US"/>
            </a:p>
          </p:txBody>
        </p:sp>
        <p:sp>
          <p:nvSpPr>
            <p:cNvPr id="13" name="TextBox 13"/>
            <p:cNvSpPr txBox="1"/>
            <p:nvPr/>
          </p:nvSpPr>
          <p:spPr>
            <a:xfrm>
              <a:off x="0" y="-38100"/>
              <a:ext cx="65210" cy="114357"/>
            </a:xfrm>
            <a:prstGeom prst="rect">
              <a:avLst/>
            </a:prstGeom>
          </p:spPr>
          <p:txBody>
            <a:bodyPr lIns="362440" tIns="362440" rIns="362440" bIns="362440" rtlCol="0" anchor="ctr"/>
            <a:lstStyle/>
            <a:p>
              <a:pPr algn="ctr">
                <a:lnSpc>
                  <a:spcPts val="2660"/>
                </a:lnSpc>
              </a:pPr>
              <a:endParaRPr/>
            </a:p>
          </p:txBody>
        </p:sp>
      </p:grpSp>
      <p:sp>
        <p:nvSpPr>
          <p:cNvPr id="14" name="Freeform 14"/>
          <p:cNvSpPr/>
          <p:nvPr/>
        </p:nvSpPr>
        <p:spPr>
          <a:xfrm>
            <a:off x="-2673426" y="8793922"/>
            <a:ext cx="6385195" cy="928756"/>
          </a:xfrm>
          <a:custGeom>
            <a:avLst/>
            <a:gdLst/>
            <a:ahLst/>
            <a:cxnLst/>
            <a:rect l="l" t="t" r="r" b="b"/>
            <a:pathLst>
              <a:path w="6385195" h="928756">
                <a:moveTo>
                  <a:pt x="0" y="0"/>
                </a:moveTo>
                <a:lnTo>
                  <a:pt x="6385194" y="0"/>
                </a:lnTo>
                <a:lnTo>
                  <a:pt x="6385194" y="928756"/>
                </a:lnTo>
                <a:lnTo>
                  <a:pt x="0" y="9287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Freeform 15"/>
          <p:cNvSpPr/>
          <p:nvPr/>
        </p:nvSpPr>
        <p:spPr>
          <a:xfrm rot="-10800000">
            <a:off x="3967748" y="564322"/>
            <a:ext cx="6385195" cy="928756"/>
          </a:xfrm>
          <a:custGeom>
            <a:avLst/>
            <a:gdLst/>
            <a:ahLst/>
            <a:cxnLst/>
            <a:rect l="l" t="t" r="r" b="b"/>
            <a:pathLst>
              <a:path w="6385195" h="928756">
                <a:moveTo>
                  <a:pt x="0" y="0"/>
                </a:moveTo>
                <a:lnTo>
                  <a:pt x="6385195" y="0"/>
                </a:lnTo>
                <a:lnTo>
                  <a:pt x="6385195" y="928756"/>
                </a:lnTo>
                <a:lnTo>
                  <a:pt x="0" y="9287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TextBox 16"/>
          <p:cNvSpPr txBox="1"/>
          <p:nvPr/>
        </p:nvSpPr>
        <p:spPr>
          <a:xfrm>
            <a:off x="1028701" y="4752696"/>
            <a:ext cx="8828752" cy="1506053"/>
          </a:xfrm>
          <a:prstGeom prst="rect">
            <a:avLst/>
          </a:prstGeom>
        </p:spPr>
        <p:txBody>
          <a:bodyPr wrap="square" lIns="0" tIns="0" rIns="0" bIns="0" rtlCol="0" anchor="t">
            <a:spAutoFit/>
          </a:bodyPr>
          <a:lstStyle/>
          <a:p>
            <a:pPr>
              <a:lnSpc>
                <a:spcPts val="3000"/>
              </a:lnSpc>
            </a:pPr>
            <a:r>
              <a:rPr lang="en-US" sz="2000" dirty="0">
                <a:solidFill>
                  <a:srgbClr val="FFFFFF"/>
                </a:solidFill>
                <a:latin typeface="Montserrat"/>
                <a:ea typeface="Montserrat"/>
                <a:cs typeface="Montserrat"/>
                <a:sym typeface="Montserrat"/>
              </a:rPr>
              <a:t>LockBit’s software relies on tools including PowerShell Empire and Cobalt Strike, as well as abusing the Windows Defender tool. These systems allow it to move through victims’ networks—and delete log files and backups before the attack.</a:t>
            </a:r>
          </a:p>
        </p:txBody>
      </p:sp>
      <p:sp>
        <p:nvSpPr>
          <p:cNvPr id="17" name="Freeform 17"/>
          <p:cNvSpPr/>
          <p:nvPr/>
        </p:nvSpPr>
        <p:spPr>
          <a:xfrm>
            <a:off x="10845593" y="2419394"/>
            <a:ext cx="781185" cy="775504"/>
          </a:xfrm>
          <a:custGeom>
            <a:avLst/>
            <a:gdLst/>
            <a:ahLst/>
            <a:cxnLst/>
            <a:rect l="l" t="t" r="r" b="b"/>
            <a:pathLst>
              <a:path w="781185" h="775504">
                <a:moveTo>
                  <a:pt x="0" y="0"/>
                </a:moveTo>
                <a:lnTo>
                  <a:pt x="781186" y="0"/>
                </a:lnTo>
                <a:lnTo>
                  <a:pt x="781186" y="775505"/>
                </a:lnTo>
                <a:lnTo>
                  <a:pt x="0" y="7755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p:cNvSpPr/>
          <p:nvPr/>
        </p:nvSpPr>
        <p:spPr>
          <a:xfrm>
            <a:off x="10848434" y="4756368"/>
            <a:ext cx="775504" cy="775504"/>
          </a:xfrm>
          <a:custGeom>
            <a:avLst/>
            <a:gdLst/>
            <a:ahLst/>
            <a:cxnLst/>
            <a:rect l="l" t="t" r="r" b="b"/>
            <a:pathLst>
              <a:path w="775504" h="775504">
                <a:moveTo>
                  <a:pt x="0" y="0"/>
                </a:moveTo>
                <a:lnTo>
                  <a:pt x="775504" y="0"/>
                </a:lnTo>
                <a:lnTo>
                  <a:pt x="775504" y="775504"/>
                </a:lnTo>
                <a:lnTo>
                  <a:pt x="0" y="7755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9" name="Freeform 19"/>
          <p:cNvSpPr/>
          <p:nvPr/>
        </p:nvSpPr>
        <p:spPr>
          <a:xfrm>
            <a:off x="10733206" y="7092101"/>
            <a:ext cx="1005961" cy="775504"/>
          </a:xfrm>
          <a:custGeom>
            <a:avLst/>
            <a:gdLst/>
            <a:ahLst/>
            <a:cxnLst/>
            <a:rect l="l" t="t" r="r" b="b"/>
            <a:pathLst>
              <a:path w="1005961" h="775504">
                <a:moveTo>
                  <a:pt x="0" y="0"/>
                </a:moveTo>
                <a:lnTo>
                  <a:pt x="1005960" y="0"/>
                </a:lnTo>
                <a:lnTo>
                  <a:pt x="1005960" y="775505"/>
                </a:lnTo>
                <a:lnTo>
                  <a:pt x="0" y="77550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0" name="TextBox 20"/>
          <p:cNvSpPr txBox="1"/>
          <p:nvPr/>
        </p:nvSpPr>
        <p:spPr>
          <a:xfrm>
            <a:off x="1028700" y="2380075"/>
            <a:ext cx="9324243" cy="857250"/>
          </a:xfrm>
          <a:prstGeom prst="rect">
            <a:avLst/>
          </a:prstGeom>
        </p:spPr>
        <p:txBody>
          <a:bodyPr lIns="0" tIns="0" rIns="0" bIns="0" rtlCol="0" anchor="t">
            <a:spAutoFit/>
          </a:bodyPr>
          <a:lstStyle/>
          <a:p>
            <a:pPr algn="l">
              <a:lnSpc>
                <a:spcPts val="6299"/>
              </a:lnSpc>
            </a:pPr>
            <a:r>
              <a:rPr lang="en-US" sz="6999" b="1" dirty="0">
                <a:solidFill>
                  <a:srgbClr val="FFFFFF"/>
                </a:solidFill>
                <a:latin typeface="Montserrat Bold"/>
                <a:ea typeface="Montserrat Bold"/>
                <a:cs typeface="Montserrat Bold"/>
                <a:sym typeface="Montserrat Bold"/>
              </a:rPr>
              <a:t>HOW IT</a:t>
            </a:r>
          </a:p>
        </p:txBody>
      </p:sp>
      <p:sp>
        <p:nvSpPr>
          <p:cNvPr id="21" name="TextBox 21"/>
          <p:cNvSpPr txBox="1"/>
          <p:nvPr/>
        </p:nvSpPr>
        <p:spPr>
          <a:xfrm>
            <a:off x="1028700" y="3380068"/>
            <a:ext cx="9324243" cy="857250"/>
          </a:xfrm>
          <a:prstGeom prst="rect">
            <a:avLst/>
          </a:prstGeom>
        </p:spPr>
        <p:txBody>
          <a:bodyPr lIns="0" tIns="0" rIns="0" bIns="0" rtlCol="0" anchor="t">
            <a:spAutoFit/>
          </a:bodyPr>
          <a:lstStyle/>
          <a:p>
            <a:pPr algn="l">
              <a:lnSpc>
                <a:spcPts val="6299"/>
              </a:lnSpc>
            </a:pPr>
            <a:r>
              <a:rPr lang="en-US" sz="6999" b="1" dirty="0">
                <a:solidFill>
                  <a:srgbClr val="37B4BE"/>
                </a:solidFill>
                <a:latin typeface="Montserrat Bold"/>
                <a:ea typeface="Montserrat Bold"/>
                <a:cs typeface="Montserrat Bold"/>
                <a:sym typeface="Montserrat Bold"/>
              </a:rPr>
              <a:t>WORKS</a:t>
            </a:r>
          </a:p>
        </p:txBody>
      </p:sp>
      <p:sp>
        <p:nvSpPr>
          <p:cNvPr id="24" name="TextBox 24"/>
          <p:cNvSpPr txBox="1"/>
          <p:nvPr/>
        </p:nvSpPr>
        <p:spPr>
          <a:xfrm>
            <a:off x="12595679" y="4842079"/>
            <a:ext cx="5299730" cy="595356"/>
          </a:xfrm>
          <a:prstGeom prst="rect">
            <a:avLst/>
          </a:prstGeom>
        </p:spPr>
        <p:txBody>
          <a:bodyPr lIns="0" tIns="0" rIns="0" bIns="0" rtlCol="0" anchor="t">
            <a:spAutoFit/>
          </a:bodyPr>
          <a:lstStyle/>
          <a:p>
            <a:pPr algn="l">
              <a:lnSpc>
                <a:spcPts val="2250"/>
              </a:lnSpc>
            </a:pPr>
            <a:r>
              <a:rPr lang="en-US" sz="2500" b="1" dirty="0">
                <a:solidFill>
                  <a:srgbClr val="FFFFFF"/>
                </a:solidFill>
                <a:latin typeface="Montserrat Bold"/>
                <a:ea typeface="Montserrat Bold"/>
                <a:cs typeface="Montserrat Bold"/>
                <a:sym typeface="Montserrat Bold"/>
              </a:rPr>
              <a:t>Lateral movement and Privilege Escalation</a:t>
            </a:r>
          </a:p>
        </p:txBody>
      </p:sp>
      <p:sp>
        <p:nvSpPr>
          <p:cNvPr id="26" name="TextBox 26"/>
          <p:cNvSpPr txBox="1"/>
          <p:nvPr/>
        </p:nvSpPr>
        <p:spPr>
          <a:xfrm>
            <a:off x="12595679" y="2719679"/>
            <a:ext cx="5299730" cy="304810"/>
          </a:xfrm>
          <a:prstGeom prst="rect">
            <a:avLst/>
          </a:prstGeom>
        </p:spPr>
        <p:txBody>
          <a:bodyPr lIns="0" tIns="0" rIns="0" bIns="0" rtlCol="0" anchor="t">
            <a:spAutoFit/>
          </a:bodyPr>
          <a:lstStyle/>
          <a:p>
            <a:pPr algn="l">
              <a:lnSpc>
                <a:spcPts val="2250"/>
              </a:lnSpc>
            </a:pPr>
            <a:r>
              <a:rPr lang="en-US" sz="2500" b="1" dirty="0">
                <a:solidFill>
                  <a:srgbClr val="FFFFFF"/>
                </a:solidFill>
                <a:latin typeface="Montserrat Bold"/>
                <a:ea typeface="Montserrat Bold"/>
                <a:cs typeface="Montserrat Bold"/>
                <a:sym typeface="Montserrat Bold"/>
              </a:rPr>
              <a:t>Initial Access</a:t>
            </a:r>
          </a:p>
        </p:txBody>
      </p:sp>
      <p:sp>
        <p:nvSpPr>
          <p:cNvPr id="28" name="TextBox 28"/>
          <p:cNvSpPr txBox="1"/>
          <p:nvPr/>
        </p:nvSpPr>
        <p:spPr>
          <a:xfrm>
            <a:off x="12595679" y="7262512"/>
            <a:ext cx="5445747" cy="595356"/>
          </a:xfrm>
          <a:prstGeom prst="rect">
            <a:avLst/>
          </a:prstGeom>
        </p:spPr>
        <p:txBody>
          <a:bodyPr lIns="0" tIns="0" rIns="0" bIns="0" rtlCol="0" anchor="t">
            <a:spAutoFit/>
          </a:bodyPr>
          <a:lstStyle/>
          <a:p>
            <a:pPr algn="l">
              <a:lnSpc>
                <a:spcPts val="2250"/>
              </a:lnSpc>
            </a:pPr>
            <a:r>
              <a:rPr lang="en-US" sz="2500" b="1" dirty="0">
                <a:solidFill>
                  <a:srgbClr val="FFFFFF"/>
                </a:solidFill>
                <a:latin typeface="Montserrat Bold"/>
                <a:ea typeface="Montserrat Bold"/>
                <a:cs typeface="Montserrat Bold"/>
                <a:sym typeface="Montserrat Bold"/>
              </a:rPr>
              <a:t>Ransomware payload is deployed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p:cNvGrpSpPr/>
        <p:nvPr/>
      </p:nvGrpSpPr>
      <p:grpSpPr>
        <a:xfrm>
          <a:off x="0" y="0"/>
          <a:ext cx="0" cy="0"/>
          <a:chOff x="0" y="0"/>
          <a:chExt cx="0" cy="0"/>
        </a:xfrm>
      </p:grpSpPr>
      <p:grpSp>
        <p:nvGrpSpPr>
          <p:cNvPr id="2" name="Group 2"/>
          <p:cNvGrpSpPr/>
          <p:nvPr/>
        </p:nvGrpSpPr>
        <p:grpSpPr>
          <a:xfrm>
            <a:off x="8622793" y="750935"/>
            <a:ext cx="11305251" cy="8785129"/>
            <a:chOff x="240391" y="-132333"/>
            <a:chExt cx="1751479" cy="1361046"/>
          </a:xfrm>
        </p:grpSpPr>
        <p:sp>
          <p:nvSpPr>
            <p:cNvPr id="3" name="Freeform 3"/>
            <p:cNvSpPr/>
            <p:nvPr/>
          </p:nvSpPr>
          <p:spPr>
            <a:xfrm>
              <a:off x="240391" y="-132333"/>
              <a:ext cx="1751479" cy="1361046"/>
            </a:xfrm>
            <a:custGeom>
              <a:avLst/>
              <a:gdLst/>
              <a:ahLst/>
              <a:cxnLst/>
              <a:rect l="l" t="t" r="r" b="b"/>
              <a:pathLst>
                <a:path w="1751479" h="1361046">
                  <a:moveTo>
                    <a:pt x="0" y="0"/>
                  </a:moveTo>
                  <a:lnTo>
                    <a:pt x="1751479" y="0"/>
                  </a:lnTo>
                  <a:lnTo>
                    <a:pt x="1751479" y="1361046"/>
                  </a:lnTo>
                  <a:lnTo>
                    <a:pt x="0" y="1361046"/>
                  </a:lnTo>
                  <a:close/>
                </a:path>
              </a:pathLst>
            </a:custGeom>
            <a:blipFill>
              <a:blip r:embed="rId2"/>
              <a:stretch>
                <a:fillRect l="-16635"/>
              </a:stretch>
            </a:blipFill>
          </p:spPr>
          <p:txBody>
            <a:bodyPr/>
            <a:lstStyle/>
            <a:p>
              <a:endParaRPr lang="en-US" dirty="0"/>
            </a:p>
          </p:txBody>
        </p:sp>
      </p:grpSp>
      <p:grpSp>
        <p:nvGrpSpPr>
          <p:cNvPr id="10" name="Group 10"/>
          <p:cNvGrpSpPr/>
          <p:nvPr/>
        </p:nvGrpSpPr>
        <p:grpSpPr>
          <a:xfrm>
            <a:off x="-10331822" y="2746496"/>
            <a:ext cx="18565822" cy="8254826"/>
            <a:chOff x="0" y="-38100"/>
            <a:chExt cx="176455" cy="174847"/>
          </a:xfrm>
        </p:grpSpPr>
        <p:sp>
          <p:nvSpPr>
            <p:cNvPr id="11" name="Freeform 11"/>
            <p:cNvSpPr/>
            <p:nvPr/>
          </p:nvSpPr>
          <p:spPr>
            <a:xfrm>
              <a:off x="88106" y="50420"/>
              <a:ext cx="88349" cy="86327"/>
            </a:xfrm>
            <a:custGeom>
              <a:avLst/>
              <a:gdLst/>
              <a:ahLst/>
              <a:cxnLst/>
              <a:rect l="l" t="t" r="r" b="b"/>
              <a:pathLst>
                <a:path w="88349" h="86327">
                  <a:moveTo>
                    <a:pt x="0" y="0"/>
                  </a:moveTo>
                  <a:lnTo>
                    <a:pt x="88349" y="0"/>
                  </a:lnTo>
                  <a:lnTo>
                    <a:pt x="88349" y="86327"/>
                  </a:lnTo>
                  <a:lnTo>
                    <a:pt x="0" y="86327"/>
                  </a:lnTo>
                  <a:close/>
                </a:path>
              </a:pathLst>
            </a:custGeom>
            <a:solidFill>
              <a:srgbClr val="232325"/>
            </a:solidFill>
          </p:spPr>
          <p:txBody>
            <a:bodyPr/>
            <a:lstStyle/>
            <a:p>
              <a:endParaRPr lang="en-US" dirty="0"/>
            </a:p>
          </p:txBody>
        </p:sp>
        <p:sp>
          <p:nvSpPr>
            <p:cNvPr id="12" name="TextBox 12"/>
            <p:cNvSpPr txBox="1"/>
            <p:nvPr/>
          </p:nvSpPr>
          <p:spPr>
            <a:xfrm>
              <a:off x="0" y="-38100"/>
              <a:ext cx="88349" cy="124427"/>
            </a:xfrm>
            <a:prstGeom prst="rect">
              <a:avLst/>
            </a:prstGeom>
          </p:spPr>
          <p:txBody>
            <a:bodyPr lIns="362440" tIns="362440" rIns="362440" bIns="362440" rtlCol="0" anchor="ctr"/>
            <a:lstStyle/>
            <a:p>
              <a:pPr algn="ctr">
                <a:lnSpc>
                  <a:spcPts val="2660"/>
                </a:lnSpc>
              </a:pPr>
              <a:endParaRPr/>
            </a:p>
          </p:txBody>
        </p:sp>
      </p:grpSp>
      <p:grpSp>
        <p:nvGrpSpPr>
          <p:cNvPr id="4" name="Group 4"/>
          <p:cNvGrpSpPr/>
          <p:nvPr/>
        </p:nvGrpSpPr>
        <p:grpSpPr>
          <a:xfrm>
            <a:off x="3932759" y="4584709"/>
            <a:ext cx="9249748" cy="3429657"/>
            <a:chOff x="0" y="0"/>
            <a:chExt cx="88349" cy="86327"/>
          </a:xfrm>
        </p:grpSpPr>
        <p:sp>
          <p:nvSpPr>
            <p:cNvPr id="5" name="Freeform 5"/>
            <p:cNvSpPr/>
            <p:nvPr/>
          </p:nvSpPr>
          <p:spPr>
            <a:xfrm>
              <a:off x="0" y="0"/>
              <a:ext cx="88349" cy="86327"/>
            </a:xfrm>
            <a:custGeom>
              <a:avLst/>
              <a:gdLst/>
              <a:ahLst/>
              <a:cxnLst/>
              <a:rect l="l" t="t" r="r" b="b"/>
              <a:pathLst>
                <a:path w="88349" h="86327">
                  <a:moveTo>
                    <a:pt x="0" y="0"/>
                  </a:moveTo>
                  <a:lnTo>
                    <a:pt x="88349" y="0"/>
                  </a:lnTo>
                  <a:lnTo>
                    <a:pt x="88349" y="86327"/>
                  </a:lnTo>
                  <a:lnTo>
                    <a:pt x="0" y="86327"/>
                  </a:lnTo>
                  <a:close/>
                </a:path>
              </a:pathLst>
            </a:custGeom>
            <a:gradFill rotWithShape="1">
              <a:gsLst>
                <a:gs pos="0">
                  <a:srgbClr val="175DB7">
                    <a:alpha val="100000"/>
                  </a:srgbClr>
                </a:gs>
                <a:gs pos="100000">
                  <a:srgbClr val="13BFAF">
                    <a:alpha val="100000"/>
                  </a:srgbClr>
                </a:gs>
              </a:gsLst>
              <a:lin ang="5400000"/>
            </a:gradFill>
          </p:spPr>
          <p:txBody>
            <a:bodyPr/>
            <a:lstStyle/>
            <a:p>
              <a:endParaRPr lang="en-US" dirty="0"/>
            </a:p>
          </p:txBody>
        </p:sp>
        <p:sp>
          <p:nvSpPr>
            <p:cNvPr id="6" name="TextBox 6"/>
            <p:cNvSpPr txBox="1"/>
            <p:nvPr/>
          </p:nvSpPr>
          <p:spPr>
            <a:xfrm>
              <a:off x="0" y="-38100"/>
              <a:ext cx="88349" cy="124427"/>
            </a:xfrm>
            <a:prstGeom prst="rect">
              <a:avLst/>
            </a:prstGeom>
          </p:spPr>
          <p:txBody>
            <a:bodyPr lIns="362440" tIns="362440" rIns="362440" bIns="362440" rtlCol="0" anchor="ctr"/>
            <a:lstStyle/>
            <a:p>
              <a:pPr algn="ctr">
                <a:lnSpc>
                  <a:spcPts val="2660"/>
                </a:lnSpc>
              </a:pPr>
              <a:endParaRPr/>
            </a:p>
          </p:txBody>
        </p:sp>
      </p:grpSp>
      <p:grpSp>
        <p:nvGrpSpPr>
          <p:cNvPr id="7" name="Group 7"/>
          <p:cNvGrpSpPr/>
          <p:nvPr/>
        </p:nvGrpSpPr>
        <p:grpSpPr>
          <a:xfrm>
            <a:off x="6513642" y="1417471"/>
            <a:ext cx="7818945" cy="3887703"/>
            <a:chOff x="0" y="-38100"/>
            <a:chExt cx="88349" cy="124427"/>
          </a:xfrm>
        </p:grpSpPr>
        <p:sp>
          <p:nvSpPr>
            <p:cNvPr id="8" name="Freeform 8"/>
            <p:cNvSpPr/>
            <p:nvPr/>
          </p:nvSpPr>
          <p:spPr>
            <a:xfrm>
              <a:off x="0" y="-18070"/>
              <a:ext cx="88349" cy="104397"/>
            </a:xfrm>
            <a:custGeom>
              <a:avLst/>
              <a:gdLst/>
              <a:ahLst/>
              <a:cxnLst/>
              <a:rect l="l" t="t" r="r" b="b"/>
              <a:pathLst>
                <a:path w="88349" h="86327">
                  <a:moveTo>
                    <a:pt x="0" y="0"/>
                  </a:moveTo>
                  <a:lnTo>
                    <a:pt x="88349" y="0"/>
                  </a:lnTo>
                  <a:lnTo>
                    <a:pt x="88349" y="86327"/>
                  </a:lnTo>
                  <a:lnTo>
                    <a:pt x="0" y="86327"/>
                  </a:lnTo>
                  <a:close/>
                </a:path>
              </a:pathLst>
            </a:custGeom>
            <a:solidFill>
              <a:srgbClr val="232325"/>
            </a:solidFill>
          </p:spPr>
          <p:txBody>
            <a:bodyPr/>
            <a:lstStyle/>
            <a:p>
              <a:endParaRPr lang="en-US" dirty="0"/>
            </a:p>
          </p:txBody>
        </p:sp>
        <p:sp>
          <p:nvSpPr>
            <p:cNvPr id="9" name="TextBox 9"/>
            <p:cNvSpPr txBox="1"/>
            <p:nvPr/>
          </p:nvSpPr>
          <p:spPr>
            <a:xfrm>
              <a:off x="0" y="-38100"/>
              <a:ext cx="88349" cy="124427"/>
            </a:xfrm>
            <a:prstGeom prst="rect">
              <a:avLst/>
            </a:prstGeom>
          </p:spPr>
          <p:txBody>
            <a:bodyPr lIns="362440" tIns="362440" rIns="362440" bIns="362440" rtlCol="0" anchor="ctr"/>
            <a:lstStyle/>
            <a:p>
              <a:pPr algn="ctr">
                <a:lnSpc>
                  <a:spcPts val="2660"/>
                </a:lnSpc>
              </a:pPr>
              <a:endParaRPr/>
            </a:p>
          </p:txBody>
        </p:sp>
      </p:grpSp>
      <p:sp>
        <p:nvSpPr>
          <p:cNvPr id="13" name="TextBox 13"/>
          <p:cNvSpPr txBox="1"/>
          <p:nvPr/>
        </p:nvSpPr>
        <p:spPr>
          <a:xfrm>
            <a:off x="1028700" y="1324058"/>
            <a:ext cx="14721504" cy="857250"/>
          </a:xfrm>
          <a:prstGeom prst="rect">
            <a:avLst/>
          </a:prstGeom>
        </p:spPr>
        <p:txBody>
          <a:bodyPr lIns="0" tIns="0" rIns="0" bIns="0" rtlCol="0" anchor="t">
            <a:spAutoFit/>
          </a:bodyPr>
          <a:lstStyle/>
          <a:p>
            <a:pPr algn="l">
              <a:lnSpc>
                <a:spcPts val="6299"/>
              </a:lnSpc>
            </a:pPr>
            <a:r>
              <a:rPr lang="en-US" sz="6999" b="1" dirty="0">
                <a:solidFill>
                  <a:srgbClr val="FFFFFF"/>
                </a:solidFill>
                <a:latin typeface="Montserrat Bold"/>
                <a:ea typeface="Montserrat Bold"/>
                <a:cs typeface="Montserrat Bold"/>
                <a:sym typeface="Montserrat Bold"/>
              </a:rPr>
              <a:t>NOTABLE DEVELOPMENTS</a:t>
            </a:r>
          </a:p>
        </p:txBody>
      </p:sp>
      <p:sp>
        <p:nvSpPr>
          <p:cNvPr id="14" name="TextBox 14"/>
          <p:cNvSpPr txBox="1"/>
          <p:nvPr/>
        </p:nvSpPr>
        <p:spPr>
          <a:xfrm>
            <a:off x="1028700" y="2294935"/>
            <a:ext cx="9129325" cy="1795363"/>
          </a:xfrm>
          <a:prstGeom prst="rect">
            <a:avLst/>
          </a:prstGeom>
        </p:spPr>
        <p:txBody>
          <a:bodyPr lIns="0" tIns="0" rIns="0" bIns="0" rtlCol="0" anchor="t">
            <a:spAutoFit/>
          </a:bodyPr>
          <a:lstStyle/>
          <a:p>
            <a:pPr algn="l">
              <a:lnSpc>
                <a:spcPts val="6999"/>
              </a:lnSpc>
            </a:pPr>
            <a:r>
              <a:rPr lang="en-US" sz="6999" b="1" dirty="0">
                <a:solidFill>
                  <a:srgbClr val="37B4BE"/>
                </a:solidFill>
                <a:latin typeface="Montserrat Bold"/>
                <a:ea typeface="Montserrat Bold"/>
                <a:cs typeface="Montserrat Bold"/>
                <a:sym typeface="Montserrat Bold"/>
              </a:rPr>
              <a:t>LOCKBIT VERSIONS</a:t>
            </a:r>
          </a:p>
        </p:txBody>
      </p:sp>
      <p:sp>
        <p:nvSpPr>
          <p:cNvPr id="22" name="TextBox 22">
            <a:extLst>
              <a:ext uri="{FF2B5EF4-FFF2-40B4-BE49-F238E27FC236}">
                <a16:creationId xmlns:a16="http://schemas.microsoft.com/office/drawing/2014/main" id="{8799CD81-FBA6-E05F-F23A-B88D826267A9}"/>
              </a:ext>
            </a:extLst>
          </p:cNvPr>
          <p:cNvSpPr txBox="1"/>
          <p:nvPr/>
        </p:nvSpPr>
        <p:spPr>
          <a:xfrm>
            <a:off x="6799115" y="2181308"/>
            <a:ext cx="8088691" cy="3429657"/>
          </a:xfrm>
          <a:prstGeom prst="rect">
            <a:avLst/>
          </a:prstGeom>
        </p:spPr>
        <p:txBody>
          <a:bodyPr wrap="square" lIns="0" tIns="0" rIns="0" bIns="0" rtlCol="0" anchor="t">
            <a:spAutoFit/>
          </a:bodyPr>
          <a:lstStyle/>
          <a:p>
            <a:pPr algn="just">
              <a:lnSpc>
                <a:spcPts val="3000"/>
              </a:lnSpc>
            </a:pPr>
            <a:r>
              <a:rPr lang="en-US" b="1" dirty="0">
                <a:solidFill>
                  <a:srgbClr val="FFFFFF"/>
                </a:solidFill>
                <a:latin typeface="Montserrat"/>
                <a:ea typeface="Montserrat"/>
                <a:cs typeface="Montserrat"/>
                <a:sym typeface="Montserrat"/>
              </a:rPr>
              <a:t>LockBit 1.0</a:t>
            </a:r>
          </a:p>
          <a:p>
            <a:pPr algn="just">
              <a:lnSpc>
                <a:spcPts val="3000"/>
              </a:lnSpc>
            </a:pPr>
            <a:r>
              <a:rPr lang="en-US" b="1" dirty="0">
                <a:solidFill>
                  <a:srgbClr val="FFFFFF"/>
                </a:solidFill>
                <a:latin typeface="Montserrat"/>
                <a:ea typeface="Montserrat"/>
                <a:cs typeface="Montserrat"/>
                <a:sym typeface="Montserrat"/>
              </a:rPr>
              <a:t>Release: September 2019</a:t>
            </a:r>
          </a:p>
          <a:p>
            <a:pPr algn="just">
              <a:lnSpc>
                <a:spcPts val="3000"/>
              </a:lnSpc>
            </a:pPr>
            <a:r>
              <a:rPr lang="en-US" dirty="0">
                <a:solidFill>
                  <a:srgbClr val="FFFFFF"/>
                </a:solidFill>
                <a:latin typeface="Montserrat"/>
                <a:ea typeface="Montserrat"/>
                <a:cs typeface="Montserrat"/>
                <a:sym typeface="Montserrat"/>
              </a:rPr>
              <a:t>Features:</a:t>
            </a:r>
          </a:p>
          <a:p>
            <a:pPr marL="285750" indent="-285750" algn="just">
              <a:lnSpc>
                <a:spcPts val="3000"/>
              </a:lnSpc>
              <a:buFont typeface="Arial" panose="020B0604020202020204" pitchFamily="34" charset="0"/>
              <a:buChar char="•"/>
            </a:pPr>
            <a:r>
              <a:rPr lang="en-US" dirty="0">
                <a:solidFill>
                  <a:srgbClr val="FFFFFF"/>
                </a:solidFill>
                <a:latin typeface="Montserrat"/>
                <a:ea typeface="Montserrat"/>
                <a:cs typeface="Montserrat"/>
                <a:sym typeface="Montserrat"/>
              </a:rPr>
              <a:t>Operated as Ransomware-as-a-Service (RaaS).</a:t>
            </a:r>
          </a:p>
          <a:p>
            <a:pPr marL="285750" indent="-285750" algn="just">
              <a:lnSpc>
                <a:spcPts val="3000"/>
              </a:lnSpc>
              <a:buFont typeface="Arial" panose="020B0604020202020204" pitchFamily="34" charset="0"/>
              <a:buChar char="•"/>
            </a:pPr>
            <a:r>
              <a:rPr lang="en-US" dirty="0">
                <a:solidFill>
                  <a:srgbClr val="FFFFFF"/>
                </a:solidFill>
                <a:latin typeface="Montserrat"/>
                <a:ea typeface="Montserrat"/>
                <a:cs typeface="Montserrat"/>
                <a:sym typeface="Montserrat"/>
              </a:rPr>
              <a:t>Strong encryption of victim files.</a:t>
            </a:r>
          </a:p>
          <a:p>
            <a:pPr marL="285750" indent="-285750" algn="just">
              <a:lnSpc>
                <a:spcPts val="3000"/>
              </a:lnSpc>
              <a:buFont typeface="Arial" panose="020B0604020202020204" pitchFamily="34" charset="0"/>
              <a:buChar char="•"/>
            </a:pPr>
            <a:r>
              <a:rPr lang="en-US" dirty="0">
                <a:solidFill>
                  <a:srgbClr val="FFFFFF"/>
                </a:solidFill>
                <a:latin typeface="Montserrat"/>
                <a:ea typeface="Montserrat"/>
                <a:cs typeface="Montserrat"/>
                <a:sym typeface="Montserrat"/>
              </a:rPr>
              <a:t>Self-propagation in networks.</a:t>
            </a:r>
          </a:p>
          <a:p>
            <a:pPr marL="285750" indent="-285750" algn="just">
              <a:lnSpc>
                <a:spcPts val="3000"/>
              </a:lnSpc>
              <a:buFont typeface="Arial" panose="020B0604020202020204" pitchFamily="34" charset="0"/>
              <a:buChar char="•"/>
            </a:pPr>
            <a:r>
              <a:rPr lang="en-US" dirty="0">
                <a:solidFill>
                  <a:srgbClr val="FFFFFF"/>
                </a:solidFill>
                <a:latin typeface="Montserrat"/>
                <a:ea typeface="Montserrat"/>
                <a:cs typeface="Montserrat"/>
                <a:sym typeface="Montserrat"/>
              </a:rPr>
              <a:t>Targeted mainly smaller organizations.</a:t>
            </a:r>
          </a:p>
          <a:p>
            <a:pPr marL="285750" indent="-285750" algn="just">
              <a:lnSpc>
                <a:spcPts val="3000"/>
              </a:lnSpc>
              <a:buFont typeface="Arial" panose="020B0604020202020204" pitchFamily="34" charset="0"/>
              <a:buChar char="•"/>
            </a:pPr>
            <a:r>
              <a:rPr lang="en-US" dirty="0">
                <a:solidFill>
                  <a:srgbClr val="FFFFFF"/>
                </a:solidFill>
                <a:latin typeface="Montserrat"/>
                <a:ea typeface="Montserrat"/>
                <a:cs typeface="Montserrat"/>
                <a:sym typeface="Montserrat"/>
              </a:rPr>
              <a:t>Basic ransom notes detailing payment instructions.</a:t>
            </a:r>
          </a:p>
          <a:p>
            <a:pPr algn="just">
              <a:lnSpc>
                <a:spcPts val="3000"/>
              </a:lnSpc>
            </a:pPr>
            <a:endParaRPr lang="en-US" sz="1600" dirty="0">
              <a:solidFill>
                <a:srgbClr val="FFFFFF"/>
              </a:solidFill>
              <a:latin typeface="Montserrat"/>
              <a:ea typeface="Montserrat"/>
              <a:cs typeface="Montserrat"/>
              <a:sym typeface="Montserrat"/>
            </a:endParaRPr>
          </a:p>
        </p:txBody>
      </p:sp>
      <p:sp>
        <p:nvSpPr>
          <p:cNvPr id="23" name="TextBox 22">
            <a:extLst>
              <a:ext uri="{FF2B5EF4-FFF2-40B4-BE49-F238E27FC236}">
                <a16:creationId xmlns:a16="http://schemas.microsoft.com/office/drawing/2014/main" id="{6E105C46-47B6-6C6A-70EE-64445E720690}"/>
              </a:ext>
            </a:extLst>
          </p:cNvPr>
          <p:cNvSpPr txBox="1"/>
          <p:nvPr/>
        </p:nvSpPr>
        <p:spPr>
          <a:xfrm>
            <a:off x="4303967" y="4713544"/>
            <a:ext cx="9184118" cy="3423309"/>
          </a:xfrm>
          <a:prstGeom prst="rect">
            <a:avLst/>
          </a:prstGeom>
        </p:spPr>
        <p:txBody>
          <a:bodyPr wrap="square" lIns="0" tIns="0" rIns="0" bIns="0" rtlCol="0" anchor="t">
            <a:spAutoFit/>
          </a:bodyPr>
          <a:lstStyle/>
          <a:p>
            <a:pPr>
              <a:lnSpc>
                <a:spcPts val="3000"/>
              </a:lnSpc>
            </a:pPr>
            <a:r>
              <a:rPr lang="en-US" b="1" dirty="0">
                <a:solidFill>
                  <a:srgbClr val="FFFFFF"/>
                </a:solidFill>
                <a:latin typeface="Montserrat"/>
                <a:ea typeface="Montserrat"/>
                <a:cs typeface="Montserrat"/>
                <a:sym typeface="Montserrat"/>
              </a:rPr>
              <a:t>LockBit 2.0</a:t>
            </a:r>
          </a:p>
          <a:p>
            <a:pPr>
              <a:lnSpc>
                <a:spcPts val="3000"/>
              </a:lnSpc>
            </a:pPr>
            <a:r>
              <a:rPr lang="en-US" b="1" dirty="0">
                <a:solidFill>
                  <a:srgbClr val="FFFFFF"/>
                </a:solidFill>
                <a:latin typeface="Montserrat"/>
                <a:ea typeface="Montserrat"/>
                <a:cs typeface="Montserrat"/>
                <a:sym typeface="Montserrat"/>
              </a:rPr>
              <a:t>Release: July 2021</a:t>
            </a:r>
          </a:p>
          <a:p>
            <a:pPr>
              <a:lnSpc>
                <a:spcPts val="3000"/>
              </a:lnSpc>
            </a:pPr>
            <a:r>
              <a:rPr lang="en-US" dirty="0">
                <a:solidFill>
                  <a:srgbClr val="FFFFFF"/>
                </a:solidFill>
                <a:latin typeface="Montserrat"/>
                <a:ea typeface="Montserrat"/>
                <a:cs typeface="Montserrat"/>
                <a:sym typeface="Montserrat"/>
              </a:rPr>
              <a:t>Enhancements:</a:t>
            </a:r>
          </a:p>
          <a:p>
            <a:pPr marL="285750" indent="-285750">
              <a:lnSpc>
                <a:spcPts val="3000"/>
              </a:lnSpc>
              <a:buFont typeface="Arial" panose="020B0604020202020204" pitchFamily="34" charset="0"/>
              <a:buChar char="•"/>
            </a:pPr>
            <a:r>
              <a:rPr lang="en-US" dirty="0">
                <a:solidFill>
                  <a:srgbClr val="FFFFFF"/>
                </a:solidFill>
                <a:latin typeface="Montserrat"/>
                <a:ea typeface="Montserrat"/>
                <a:cs typeface="Montserrat"/>
                <a:sym typeface="Montserrat"/>
              </a:rPr>
              <a:t>Improved encryption speed.</a:t>
            </a:r>
          </a:p>
          <a:p>
            <a:pPr marL="285750" indent="-285750">
              <a:lnSpc>
                <a:spcPts val="3000"/>
              </a:lnSpc>
              <a:buFont typeface="Arial" panose="020B0604020202020204" pitchFamily="34" charset="0"/>
              <a:buChar char="•"/>
            </a:pPr>
            <a:r>
              <a:rPr lang="en-US" dirty="0">
                <a:solidFill>
                  <a:srgbClr val="FFFFFF"/>
                </a:solidFill>
                <a:latin typeface="Montserrat"/>
                <a:ea typeface="Montserrat"/>
                <a:cs typeface="Montserrat"/>
                <a:sym typeface="Montserrat"/>
              </a:rPr>
              <a:t>Introduced data exfiltration capability (theft of data before encryption).</a:t>
            </a:r>
          </a:p>
          <a:p>
            <a:pPr marL="285750" indent="-285750">
              <a:lnSpc>
                <a:spcPts val="3000"/>
              </a:lnSpc>
              <a:buFont typeface="Arial" panose="020B0604020202020204" pitchFamily="34" charset="0"/>
              <a:buChar char="•"/>
            </a:pPr>
            <a:r>
              <a:rPr lang="en-US" dirty="0">
                <a:solidFill>
                  <a:srgbClr val="FFFFFF"/>
                </a:solidFill>
                <a:latin typeface="Montserrat"/>
                <a:ea typeface="Montserrat"/>
                <a:cs typeface="Montserrat"/>
                <a:sym typeface="Montserrat"/>
              </a:rPr>
              <a:t>Online negotiation platform for ransom discussions.</a:t>
            </a:r>
          </a:p>
          <a:p>
            <a:pPr marL="285750" indent="-285750">
              <a:lnSpc>
                <a:spcPts val="3000"/>
              </a:lnSpc>
              <a:buFont typeface="Arial" panose="020B0604020202020204" pitchFamily="34" charset="0"/>
              <a:buChar char="•"/>
            </a:pPr>
            <a:r>
              <a:rPr lang="en-US" dirty="0">
                <a:solidFill>
                  <a:srgbClr val="FFFFFF"/>
                </a:solidFill>
                <a:latin typeface="Montserrat"/>
                <a:ea typeface="Montserrat"/>
                <a:cs typeface="Montserrat"/>
                <a:sym typeface="Montserrat"/>
              </a:rPr>
              <a:t>Broadened target scope, including mid-sized and larger businesses.</a:t>
            </a:r>
          </a:p>
          <a:p>
            <a:pPr marL="285750" indent="-285750">
              <a:lnSpc>
                <a:spcPts val="3000"/>
              </a:lnSpc>
              <a:buFont typeface="Arial" panose="020B0604020202020204" pitchFamily="34" charset="0"/>
              <a:buChar char="•"/>
            </a:pPr>
            <a:r>
              <a:rPr lang="en-US" dirty="0">
                <a:solidFill>
                  <a:srgbClr val="FFFFFF"/>
                </a:solidFill>
                <a:latin typeface="Montserrat"/>
                <a:ea typeface="Montserrat"/>
                <a:cs typeface="Montserrat"/>
                <a:sym typeface="Montserrat"/>
              </a:rPr>
              <a:t>More sophisticated ransom notes.</a:t>
            </a:r>
          </a:p>
          <a:p>
            <a:pPr>
              <a:lnSpc>
                <a:spcPts val="3000"/>
              </a:lnSpc>
            </a:pPr>
            <a:endParaRPr lang="en-US" dirty="0">
              <a:solidFill>
                <a:srgbClr val="FFFFFF"/>
              </a:solidFill>
              <a:latin typeface="Montserrat"/>
              <a:ea typeface="Montserrat"/>
              <a:cs typeface="Montserrat"/>
              <a:sym typeface="Montserrat"/>
            </a:endParaRPr>
          </a:p>
        </p:txBody>
      </p:sp>
      <p:sp>
        <p:nvSpPr>
          <p:cNvPr id="24" name="TextBox 22">
            <a:extLst>
              <a:ext uri="{FF2B5EF4-FFF2-40B4-BE49-F238E27FC236}">
                <a16:creationId xmlns:a16="http://schemas.microsoft.com/office/drawing/2014/main" id="{C487F69A-F5FC-19BA-34A5-2E5C1B60CEF3}"/>
              </a:ext>
            </a:extLst>
          </p:cNvPr>
          <p:cNvSpPr txBox="1"/>
          <p:nvPr/>
        </p:nvSpPr>
        <p:spPr>
          <a:xfrm>
            <a:off x="517228" y="6999143"/>
            <a:ext cx="8545379" cy="3429657"/>
          </a:xfrm>
          <a:prstGeom prst="rect">
            <a:avLst/>
          </a:prstGeom>
        </p:spPr>
        <p:txBody>
          <a:bodyPr wrap="square" lIns="0" tIns="0" rIns="0" bIns="0" rtlCol="0" anchor="t">
            <a:spAutoFit/>
          </a:bodyPr>
          <a:lstStyle/>
          <a:p>
            <a:pPr>
              <a:lnSpc>
                <a:spcPts val="3000"/>
              </a:lnSpc>
            </a:pPr>
            <a:r>
              <a:rPr lang="en-US" sz="2000" b="1" dirty="0">
                <a:solidFill>
                  <a:srgbClr val="FFFFFF"/>
                </a:solidFill>
                <a:latin typeface="Montserrat"/>
                <a:ea typeface="Montserrat"/>
                <a:cs typeface="Montserrat"/>
                <a:sym typeface="Montserrat"/>
              </a:rPr>
              <a:t>LockBit 3.0</a:t>
            </a:r>
          </a:p>
          <a:p>
            <a:pPr>
              <a:lnSpc>
                <a:spcPts val="3000"/>
              </a:lnSpc>
            </a:pPr>
            <a:r>
              <a:rPr lang="en-US" sz="2000" b="1" dirty="0">
                <a:solidFill>
                  <a:srgbClr val="FFFFFF"/>
                </a:solidFill>
                <a:latin typeface="Montserrat"/>
                <a:ea typeface="Montserrat"/>
                <a:cs typeface="Montserrat"/>
                <a:sym typeface="Montserrat"/>
              </a:rPr>
              <a:t>Release: Early 2022</a:t>
            </a:r>
          </a:p>
          <a:p>
            <a:pPr>
              <a:lnSpc>
                <a:spcPts val="3000"/>
              </a:lnSpc>
            </a:pPr>
            <a:r>
              <a:rPr lang="en-US" sz="2000" dirty="0">
                <a:solidFill>
                  <a:srgbClr val="FFFFFF"/>
                </a:solidFill>
                <a:latin typeface="Montserrat"/>
                <a:ea typeface="Montserrat"/>
                <a:cs typeface="Montserrat"/>
                <a:sym typeface="Montserrat"/>
              </a:rPr>
              <a:t>Notable Features:</a:t>
            </a:r>
          </a:p>
          <a:p>
            <a:pPr marL="342900" indent="-342900">
              <a:lnSpc>
                <a:spcPts val="3000"/>
              </a:lnSpc>
              <a:buFont typeface="Arial" panose="020B0604020202020204" pitchFamily="34" charset="0"/>
              <a:buChar char="•"/>
            </a:pPr>
            <a:r>
              <a:rPr lang="en-US" sz="2000" dirty="0">
                <a:solidFill>
                  <a:srgbClr val="FFFFFF"/>
                </a:solidFill>
                <a:latin typeface="Montserrat"/>
                <a:ea typeface="Montserrat"/>
                <a:cs typeface="Montserrat"/>
                <a:sym typeface="Montserrat"/>
              </a:rPr>
              <a:t>Enhanced RaaS infrastructure for affiliates.</a:t>
            </a:r>
          </a:p>
          <a:p>
            <a:pPr marL="342900" indent="-342900">
              <a:lnSpc>
                <a:spcPts val="3000"/>
              </a:lnSpc>
              <a:buFont typeface="Arial" panose="020B0604020202020204" pitchFamily="34" charset="0"/>
              <a:buChar char="•"/>
            </a:pPr>
            <a:r>
              <a:rPr lang="en-US" sz="2000" dirty="0">
                <a:solidFill>
                  <a:srgbClr val="FFFFFF"/>
                </a:solidFill>
                <a:latin typeface="Montserrat"/>
                <a:ea typeface="Montserrat"/>
                <a:cs typeface="Montserrat"/>
                <a:sym typeface="Montserrat"/>
              </a:rPr>
              <a:t>Better code quality and execution speed.</a:t>
            </a:r>
          </a:p>
          <a:p>
            <a:pPr marL="342900" indent="-342900">
              <a:lnSpc>
                <a:spcPts val="3000"/>
              </a:lnSpc>
              <a:buFont typeface="Arial" panose="020B0604020202020204" pitchFamily="34" charset="0"/>
              <a:buChar char="•"/>
            </a:pPr>
            <a:r>
              <a:rPr lang="en-US" sz="2000" dirty="0">
                <a:solidFill>
                  <a:srgbClr val="FFFFFF"/>
                </a:solidFill>
                <a:latin typeface="Montserrat"/>
                <a:ea typeface="Montserrat"/>
                <a:cs typeface="Montserrat"/>
                <a:sym typeface="Montserrat"/>
              </a:rPr>
              <a:t>Customizable ransom notes and targeted attacks.</a:t>
            </a:r>
          </a:p>
          <a:p>
            <a:pPr marL="342900" indent="-342900">
              <a:lnSpc>
                <a:spcPts val="3000"/>
              </a:lnSpc>
              <a:buFont typeface="Arial" panose="020B0604020202020204" pitchFamily="34" charset="0"/>
              <a:buChar char="•"/>
            </a:pPr>
            <a:r>
              <a:rPr lang="en-US" sz="2000" dirty="0">
                <a:solidFill>
                  <a:srgbClr val="FFFFFF"/>
                </a:solidFill>
                <a:latin typeface="Montserrat"/>
                <a:ea typeface="Montserrat"/>
                <a:cs typeface="Montserrat"/>
                <a:sym typeface="Montserrat"/>
              </a:rPr>
              <a:t>Multi-language notes to engage a global audience.</a:t>
            </a:r>
          </a:p>
          <a:p>
            <a:pPr marL="342900" indent="-342900">
              <a:lnSpc>
                <a:spcPts val="3000"/>
              </a:lnSpc>
              <a:buFont typeface="Arial" panose="020B0604020202020204" pitchFamily="34" charset="0"/>
              <a:buChar char="•"/>
            </a:pPr>
            <a:r>
              <a:rPr lang="en-US" sz="2000" dirty="0">
                <a:solidFill>
                  <a:srgbClr val="FFFFFF"/>
                </a:solidFill>
                <a:latin typeface="Montserrat"/>
                <a:ea typeface="Montserrat"/>
                <a:cs typeface="Montserrat"/>
                <a:sym typeface="Montserrat"/>
              </a:rPr>
              <a:t>Strengthened data leakage threats against victims.</a:t>
            </a:r>
          </a:p>
          <a:p>
            <a:pPr algn="ctr">
              <a:lnSpc>
                <a:spcPts val="3000"/>
              </a:lnSpc>
            </a:pPr>
            <a:endParaRPr lang="en-US" sz="2000" dirty="0">
              <a:solidFill>
                <a:srgbClr val="FFFFFF"/>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p:cNvGrpSpPr/>
        <p:nvPr/>
      </p:nvGrpSpPr>
      <p:grpSpPr>
        <a:xfrm>
          <a:off x="0" y="0"/>
          <a:ext cx="0" cy="0"/>
          <a:chOff x="0" y="0"/>
          <a:chExt cx="0" cy="0"/>
        </a:xfrm>
      </p:grpSpPr>
      <p:sp>
        <p:nvSpPr>
          <p:cNvPr id="14" name="Freeform 14"/>
          <p:cNvSpPr/>
          <p:nvPr/>
        </p:nvSpPr>
        <p:spPr>
          <a:xfrm rot="-10792129">
            <a:off x="-4825100" y="747852"/>
            <a:ext cx="9155917" cy="1331770"/>
          </a:xfrm>
          <a:custGeom>
            <a:avLst/>
            <a:gdLst/>
            <a:ahLst/>
            <a:cxnLst/>
            <a:rect l="l" t="t" r="r" b="b"/>
            <a:pathLst>
              <a:path w="9155917" h="1331770">
                <a:moveTo>
                  <a:pt x="0" y="0"/>
                </a:moveTo>
                <a:lnTo>
                  <a:pt x="9155917" y="0"/>
                </a:lnTo>
                <a:lnTo>
                  <a:pt x="9155917" y="1331770"/>
                </a:lnTo>
                <a:lnTo>
                  <a:pt x="0" y="13317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TextBox 15"/>
          <p:cNvSpPr txBox="1"/>
          <p:nvPr/>
        </p:nvSpPr>
        <p:spPr>
          <a:xfrm>
            <a:off x="5105400" y="1228593"/>
            <a:ext cx="5536741" cy="857250"/>
          </a:xfrm>
          <a:prstGeom prst="rect">
            <a:avLst/>
          </a:prstGeom>
        </p:spPr>
        <p:txBody>
          <a:bodyPr lIns="0" tIns="0" rIns="0" bIns="0" rtlCol="0" anchor="t">
            <a:spAutoFit/>
          </a:bodyPr>
          <a:lstStyle/>
          <a:p>
            <a:pPr algn="l">
              <a:lnSpc>
                <a:spcPts val="6299"/>
              </a:lnSpc>
            </a:pPr>
            <a:r>
              <a:rPr lang="en-US" sz="6999" b="1" dirty="0" err="1">
                <a:solidFill>
                  <a:srgbClr val="FFFFFF"/>
                </a:solidFill>
                <a:latin typeface="Montserrat Bold"/>
                <a:ea typeface="Montserrat Bold"/>
                <a:cs typeface="Montserrat Bold"/>
                <a:sym typeface="Montserrat Bold"/>
              </a:rPr>
              <a:t>LockBit</a:t>
            </a:r>
            <a:endParaRPr lang="en-US" sz="6999" b="1" dirty="0">
              <a:solidFill>
                <a:srgbClr val="FFFFFF"/>
              </a:solidFill>
              <a:latin typeface="Montserrat Bold"/>
              <a:ea typeface="Montserrat Bold"/>
              <a:cs typeface="Montserrat Bold"/>
              <a:sym typeface="Montserrat Bold"/>
            </a:endParaRPr>
          </a:p>
        </p:txBody>
      </p:sp>
      <p:sp>
        <p:nvSpPr>
          <p:cNvPr id="16" name="TextBox 16"/>
          <p:cNvSpPr txBox="1"/>
          <p:nvPr/>
        </p:nvSpPr>
        <p:spPr>
          <a:xfrm>
            <a:off x="9043157" y="1197957"/>
            <a:ext cx="5210818" cy="857250"/>
          </a:xfrm>
          <a:prstGeom prst="rect">
            <a:avLst/>
          </a:prstGeom>
        </p:spPr>
        <p:txBody>
          <a:bodyPr lIns="0" tIns="0" rIns="0" bIns="0" rtlCol="0" anchor="t">
            <a:spAutoFit/>
          </a:bodyPr>
          <a:lstStyle/>
          <a:p>
            <a:pPr algn="l">
              <a:lnSpc>
                <a:spcPts val="6299"/>
              </a:lnSpc>
            </a:pPr>
            <a:r>
              <a:rPr lang="en-US" sz="6999" b="1" dirty="0">
                <a:solidFill>
                  <a:srgbClr val="37B4BE"/>
                </a:solidFill>
                <a:latin typeface="Montserrat Bold"/>
                <a:ea typeface="Montserrat Bold"/>
                <a:cs typeface="Montserrat Bold"/>
                <a:sym typeface="Montserrat Bold"/>
              </a:rPr>
              <a:t>Targets</a:t>
            </a:r>
          </a:p>
        </p:txBody>
      </p:sp>
      <p:pic>
        <p:nvPicPr>
          <p:cNvPr id="1026" name="Picture 2" descr="Industries with the highest number of attack attempts per machine for LockBit ransomware (July 1, 2021 to January 20, 2022)">
            <a:hlinkClick r:id="rId4" tooltip="Industries with the highest number of attack attempts per machine for LockBit ransomware (July 1, 2021 to January 20, 2022)"/>
            <a:extLst>
              <a:ext uri="{FF2B5EF4-FFF2-40B4-BE49-F238E27FC236}">
                <a16:creationId xmlns:a16="http://schemas.microsoft.com/office/drawing/2014/main" id="{8A563052-31FB-3F4C-7C19-DE599B21FA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995" y="3063158"/>
            <a:ext cx="7715250" cy="46291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untries with the highest number of attack attempts machine for LockBit ransomware (July 1, 2021 to January 20, 2022)">
            <a:hlinkClick r:id="rId6" tooltip="Countries with the highest number of attack attempts machine for LockBit ransomware (July 1, 2021 to January 20, 2022)"/>
            <a:extLst>
              <a:ext uri="{FF2B5EF4-FFF2-40B4-BE49-F238E27FC236}">
                <a16:creationId xmlns:a16="http://schemas.microsoft.com/office/drawing/2014/main" id="{5CC04780-E5E9-B59E-056C-747762F3713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85757" y="3063158"/>
            <a:ext cx="7061200" cy="4588592"/>
          </a:xfrm>
          <a:prstGeom prst="rect">
            <a:avLst/>
          </a:prstGeom>
          <a:noFill/>
          <a:extLst>
            <a:ext uri="{909E8E84-426E-40DD-AFC4-6F175D3DCCD1}">
              <a14:hiddenFill xmlns:a14="http://schemas.microsoft.com/office/drawing/2010/main">
                <a:solidFill>
                  <a:srgbClr val="FFFFFF"/>
                </a:solidFill>
              </a14:hiddenFill>
            </a:ext>
          </a:extLst>
        </p:spPr>
      </p:pic>
      <p:sp>
        <p:nvSpPr>
          <p:cNvPr id="53" name="Freeform 14">
            <a:extLst>
              <a:ext uri="{FF2B5EF4-FFF2-40B4-BE49-F238E27FC236}">
                <a16:creationId xmlns:a16="http://schemas.microsoft.com/office/drawing/2014/main" id="{6231DB10-47AC-3287-1E49-F120C105BDEC}"/>
              </a:ext>
            </a:extLst>
          </p:cNvPr>
          <p:cNvSpPr/>
          <p:nvPr/>
        </p:nvSpPr>
        <p:spPr>
          <a:xfrm rot="-10792129">
            <a:off x="10611698" y="8423158"/>
            <a:ext cx="9155917" cy="1331770"/>
          </a:xfrm>
          <a:custGeom>
            <a:avLst/>
            <a:gdLst/>
            <a:ahLst/>
            <a:cxnLst/>
            <a:rect l="l" t="t" r="r" b="b"/>
            <a:pathLst>
              <a:path w="9155917" h="1331770">
                <a:moveTo>
                  <a:pt x="0" y="0"/>
                </a:moveTo>
                <a:lnTo>
                  <a:pt x="9155917" y="0"/>
                </a:lnTo>
                <a:lnTo>
                  <a:pt x="9155917" y="1331770"/>
                </a:lnTo>
                <a:lnTo>
                  <a:pt x="0" y="13317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p:cNvGrpSpPr/>
        <p:nvPr/>
      </p:nvGrpSpPr>
      <p:grpSpPr>
        <a:xfrm>
          <a:off x="0" y="0"/>
          <a:ext cx="0" cy="0"/>
          <a:chOff x="0" y="0"/>
          <a:chExt cx="0" cy="0"/>
        </a:xfrm>
      </p:grpSpPr>
      <p:grpSp>
        <p:nvGrpSpPr>
          <p:cNvPr id="13" name="Group 13"/>
          <p:cNvGrpSpPr/>
          <p:nvPr/>
        </p:nvGrpSpPr>
        <p:grpSpPr>
          <a:xfrm>
            <a:off x="0" y="2956403"/>
            <a:ext cx="11887200" cy="8206898"/>
            <a:chOff x="-188444" y="-191390"/>
            <a:chExt cx="437910" cy="236350"/>
          </a:xfrm>
        </p:grpSpPr>
        <p:sp>
          <p:nvSpPr>
            <p:cNvPr id="14" name="Freeform 14"/>
            <p:cNvSpPr/>
            <p:nvPr/>
          </p:nvSpPr>
          <p:spPr>
            <a:xfrm>
              <a:off x="-188444" y="-191390"/>
              <a:ext cx="437910" cy="182887"/>
            </a:xfrm>
            <a:custGeom>
              <a:avLst/>
              <a:gdLst/>
              <a:ahLst/>
              <a:cxnLst/>
              <a:rect l="l" t="t" r="r" b="b"/>
              <a:pathLst>
                <a:path w="137582" h="44960">
                  <a:moveTo>
                    <a:pt x="0" y="0"/>
                  </a:moveTo>
                  <a:lnTo>
                    <a:pt x="137582" y="0"/>
                  </a:lnTo>
                  <a:lnTo>
                    <a:pt x="137582" y="44960"/>
                  </a:lnTo>
                  <a:lnTo>
                    <a:pt x="0" y="44960"/>
                  </a:lnTo>
                  <a:close/>
                </a:path>
              </a:pathLst>
            </a:custGeom>
            <a:gradFill rotWithShape="1">
              <a:gsLst>
                <a:gs pos="0">
                  <a:srgbClr val="175DB7">
                    <a:alpha val="100000"/>
                  </a:srgbClr>
                </a:gs>
                <a:gs pos="100000">
                  <a:srgbClr val="13BFAF">
                    <a:alpha val="100000"/>
                  </a:srgbClr>
                </a:gs>
              </a:gsLst>
              <a:lin ang="0"/>
            </a:gradFill>
          </p:spPr>
          <p:txBody>
            <a:bodyPr/>
            <a:lstStyle/>
            <a:p>
              <a:endParaRPr lang="en-US" dirty="0"/>
            </a:p>
          </p:txBody>
        </p:sp>
        <p:sp>
          <p:nvSpPr>
            <p:cNvPr id="15" name="TextBox 15"/>
            <p:cNvSpPr txBox="1"/>
            <p:nvPr/>
          </p:nvSpPr>
          <p:spPr>
            <a:xfrm>
              <a:off x="0" y="-38100"/>
              <a:ext cx="137582" cy="83060"/>
            </a:xfrm>
            <a:prstGeom prst="rect">
              <a:avLst/>
            </a:prstGeom>
          </p:spPr>
          <p:txBody>
            <a:bodyPr lIns="362344" tIns="362344" rIns="362344" bIns="362344" rtlCol="0" anchor="ctr"/>
            <a:lstStyle/>
            <a:p>
              <a:pPr algn="ctr">
                <a:lnSpc>
                  <a:spcPts val="2659"/>
                </a:lnSpc>
              </a:pPr>
              <a:endParaRPr/>
            </a:p>
          </p:txBody>
        </p:sp>
      </p:grpSp>
      <p:sp>
        <p:nvSpPr>
          <p:cNvPr id="23" name="TextBox 23"/>
          <p:cNvSpPr txBox="1"/>
          <p:nvPr/>
        </p:nvSpPr>
        <p:spPr>
          <a:xfrm>
            <a:off x="4936767" y="933612"/>
            <a:ext cx="10639384" cy="827662"/>
          </a:xfrm>
          <a:prstGeom prst="rect">
            <a:avLst/>
          </a:prstGeom>
        </p:spPr>
        <p:txBody>
          <a:bodyPr wrap="square" lIns="0" tIns="0" rIns="0" bIns="0" rtlCol="0" anchor="t">
            <a:spAutoFit/>
          </a:bodyPr>
          <a:lstStyle/>
          <a:p>
            <a:pPr algn="l">
              <a:lnSpc>
                <a:spcPts val="6299"/>
              </a:lnSpc>
            </a:pPr>
            <a:r>
              <a:rPr lang="en-US" sz="6999" b="1" dirty="0">
                <a:solidFill>
                  <a:schemeClr val="bg1"/>
                </a:solidFill>
                <a:latin typeface="Montserrat Bold"/>
                <a:ea typeface="Montserrat Bold"/>
                <a:cs typeface="Montserrat Bold"/>
                <a:sym typeface="Montserrat Bold"/>
              </a:rPr>
              <a:t>How to Spot </a:t>
            </a:r>
            <a:r>
              <a:rPr lang="en-US" sz="6999" b="1" dirty="0" err="1">
                <a:solidFill>
                  <a:schemeClr val="bg1"/>
                </a:solidFill>
                <a:latin typeface="Montserrat Bold"/>
                <a:ea typeface="Montserrat Bold"/>
                <a:cs typeface="Montserrat Bold"/>
                <a:sym typeface="Montserrat Bold"/>
              </a:rPr>
              <a:t>LockBit</a:t>
            </a:r>
            <a:endParaRPr lang="en-US" sz="6999" b="1" dirty="0">
              <a:solidFill>
                <a:schemeClr val="bg1"/>
              </a:solidFill>
              <a:latin typeface="Montserrat Bold"/>
              <a:ea typeface="Montserrat Bold"/>
              <a:cs typeface="Montserrat Bold"/>
              <a:sym typeface="Montserrat Bold"/>
            </a:endParaRPr>
          </a:p>
        </p:txBody>
      </p:sp>
      <p:sp>
        <p:nvSpPr>
          <p:cNvPr id="24" name="TextBox 24"/>
          <p:cNvSpPr txBox="1"/>
          <p:nvPr/>
        </p:nvSpPr>
        <p:spPr>
          <a:xfrm>
            <a:off x="1034264" y="3474088"/>
            <a:ext cx="8075100" cy="7276864"/>
          </a:xfrm>
          <a:prstGeom prst="rect">
            <a:avLst/>
          </a:prstGeom>
        </p:spPr>
        <p:txBody>
          <a:bodyPr wrap="square" lIns="0" tIns="0" rIns="0" bIns="0" rtlCol="0" anchor="t">
            <a:spAutoFit/>
          </a:bodyPr>
          <a:lstStyle/>
          <a:p>
            <a:pPr>
              <a:lnSpc>
                <a:spcPts val="3000"/>
              </a:lnSpc>
            </a:pPr>
            <a:r>
              <a:rPr lang="en-US" sz="3600" dirty="0">
                <a:solidFill>
                  <a:srgbClr val="FFFFFF"/>
                </a:solidFill>
                <a:latin typeface="Montserrat"/>
                <a:ea typeface="Montserrat"/>
                <a:cs typeface="Montserrat"/>
                <a:sym typeface="Montserrat"/>
              </a:rPr>
              <a:t>Warning Signs:</a:t>
            </a:r>
          </a:p>
          <a:p>
            <a:pPr>
              <a:lnSpc>
                <a:spcPts val="3000"/>
              </a:lnSpc>
            </a:pPr>
            <a:endParaRPr lang="en-US" sz="3600" dirty="0">
              <a:solidFill>
                <a:srgbClr val="FFFFFF"/>
              </a:solidFill>
              <a:latin typeface="Montserrat"/>
              <a:ea typeface="Montserrat"/>
              <a:cs typeface="Montserrat"/>
              <a:sym typeface="Montserrat"/>
            </a:endParaRPr>
          </a:p>
          <a:p>
            <a:pPr marL="571500" indent="-571500">
              <a:lnSpc>
                <a:spcPts val="3000"/>
              </a:lnSpc>
              <a:buFont typeface="Arial" panose="020B0604020202020204" pitchFamily="34" charset="0"/>
              <a:buChar char="•"/>
            </a:pPr>
            <a:r>
              <a:rPr lang="en-US" sz="3600" dirty="0">
                <a:solidFill>
                  <a:srgbClr val="FFFFFF"/>
                </a:solidFill>
                <a:latin typeface="Montserrat"/>
                <a:ea typeface="Montserrat"/>
                <a:cs typeface="Montserrat"/>
                <a:sym typeface="Montserrat"/>
              </a:rPr>
              <a:t>Files renamed to ".</a:t>
            </a:r>
            <a:r>
              <a:rPr lang="en-US" sz="3600" dirty="0" err="1">
                <a:solidFill>
                  <a:srgbClr val="FFFFFF"/>
                </a:solidFill>
                <a:latin typeface="Montserrat"/>
                <a:ea typeface="Montserrat"/>
                <a:cs typeface="Montserrat"/>
                <a:sym typeface="Montserrat"/>
              </a:rPr>
              <a:t>lockbit</a:t>
            </a:r>
            <a:r>
              <a:rPr lang="en-US" sz="3600" dirty="0">
                <a:solidFill>
                  <a:srgbClr val="FFFFFF"/>
                </a:solidFill>
                <a:latin typeface="Montserrat"/>
                <a:ea typeface="Montserrat"/>
                <a:cs typeface="Montserrat"/>
                <a:sym typeface="Montserrat"/>
              </a:rPr>
              <a:t>".</a:t>
            </a:r>
          </a:p>
          <a:p>
            <a:pPr marL="571500" indent="-571500">
              <a:lnSpc>
                <a:spcPts val="3000"/>
              </a:lnSpc>
              <a:buFont typeface="Arial" panose="020B0604020202020204" pitchFamily="34" charset="0"/>
              <a:buChar char="•"/>
            </a:pPr>
            <a:endParaRPr lang="en-US" sz="3600" dirty="0">
              <a:solidFill>
                <a:srgbClr val="FFFFFF"/>
              </a:solidFill>
              <a:latin typeface="Montserrat"/>
              <a:ea typeface="Montserrat"/>
              <a:cs typeface="Montserrat"/>
              <a:sym typeface="Montserrat"/>
            </a:endParaRPr>
          </a:p>
          <a:p>
            <a:pPr marL="571500" indent="-571500">
              <a:lnSpc>
                <a:spcPts val="3000"/>
              </a:lnSpc>
              <a:buFont typeface="Arial" panose="020B0604020202020204" pitchFamily="34" charset="0"/>
              <a:buChar char="•"/>
            </a:pPr>
            <a:r>
              <a:rPr lang="en-US" sz="3600" dirty="0">
                <a:solidFill>
                  <a:srgbClr val="FFFFFF"/>
                </a:solidFill>
                <a:latin typeface="Montserrat"/>
                <a:ea typeface="Montserrat"/>
                <a:cs typeface="Montserrat"/>
                <a:sym typeface="Montserrat"/>
              </a:rPr>
              <a:t>Pop-up ransom notes on your screen.</a:t>
            </a:r>
          </a:p>
          <a:p>
            <a:pPr marL="571500" indent="-571500">
              <a:lnSpc>
                <a:spcPts val="3000"/>
              </a:lnSpc>
              <a:buFont typeface="Arial" panose="020B0604020202020204" pitchFamily="34" charset="0"/>
              <a:buChar char="•"/>
            </a:pPr>
            <a:endParaRPr lang="en-US" sz="3600" dirty="0">
              <a:solidFill>
                <a:srgbClr val="FFFFFF"/>
              </a:solidFill>
              <a:latin typeface="Montserrat"/>
              <a:ea typeface="Montserrat"/>
              <a:cs typeface="Montserrat"/>
              <a:sym typeface="Montserrat"/>
            </a:endParaRPr>
          </a:p>
          <a:p>
            <a:pPr marL="571500" indent="-571500">
              <a:lnSpc>
                <a:spcPts val="3000"/>
              </a:lnSpc>
              <a:buFont typeface="Arial" panose="020B0604020202020204" pitchFamily="34" charset="0"/>
              <a:buChar char="•"/>
            </a:pPr>
            <a:r>
              <a:rPr lang="en-US" sz="3600" dirty="0">
                <a:solidFill>
                  <a:srgbClr val="FFFFFF"/>
                </a:solidFill>
                <a:latin typeface="Montserrat"/>
                <a:ea typeface="Montserrat"/>
                <a:cs typeface="Montserrat"/>
                <a:sym typeface="Montserrat"/>
              </a:rPr>
              <a:t>Slow computers or missing files.</a:t>
            </a:r>
          </a:p>
          <a:p>
            <a:pPr>
              <a:lnSpc>
                <a:spcPts val="3000"/>
              </a:lnSpc>
            </a:pPr>
            <a:endParaRPr lang="en-US" sz="3600" dirty="0">
              <a:solidFill>
                <a:srgbClr val="FFFFFF"/>
              </a:solidFill>
              <a:latin typeface="Montserrat"/>
              <a:ea typeface="Montserrat"/>
              <a:cs typeface="Montserrat"/>
              <a:sym typeface="Montserrat"/>
            </a:endParaRPr>
          </a:p>
          <a:p>
            <a:pPr>
              <a:lnSpc>
                <a:spcPts val="3000"/>
              </a:lnSpc>
            </a:pPr>
            <a:endParaRPr lang="en-US" sz="3600" dirty="0">
              <a:solidFill>
                <a:srgbClr val="FFFFFF"/>
              </a:solidFill>
              <a:latin typeface="Montserrat"/>
              <a:ea typeface="Montserrat"/>
              <a:cs typeface="Montserrat"/>
              <a:sym typeface="Montserrat"/>
            </a:endParaRPr>
          </a:p>
          <a:p>
            <a:pPr>
              <a:lnSpc>
                <a:spcPts val="3000"/>
              </a:lnSpc>
            </a:pPr>
            <a:endParaRPr lang="en-US" sz="3600" dirty="0">
              <a:solidFill>
                <a:srgbClr val="FFFFFF"/>
              </a:solidFill>
              <a:latin typeface="Montserrat"/>
              <a:ea typeface="Montserrat"/>
              <a:cs typeface="Montserrat"/>
              <a:sym typeface="Montserrat"/>
            </a:endParaRPr>
          </a:p>
          <a:p>
            <a:pPr>
              <a:lnSpc>
                <a:spcPts val="3000"/>
              </a:lnSpc>
            </a:pPr>
            <a:endParaRPr lang="en-US" sz="3600" dirty="0">
              <a:solidFill>
                <a:srgbClr val="FFFFFF"/>
              </a:solidFill>
              <a:latin typeface="Montserrat"/>
              <a:ea typeface="Montserrat"/>
              <a:cs typeface="Montserrat"/>
              <a:sym typeface="Montserrat"/>
            </a:endParaRPr>
          </a:p>
          <a:p>
            <a:pPr>
              <a:lnSpc>
                <a:spcPts val="3000"/>
              </a:lnSpc>
            </a:pPr>
            <a:endParaRPr lang="en-US" sz="3600" dirty="0">
              <a:solidFill>
                <a:srgbClr val="FFFFFF"/>
              </a:solidFill>
              <a:latin typeface="Montserrat"/>
              <a:ea typeface="Montserrat"/>
              <a:cs typeface="Montserrat"/>
              <a:sym typeface="Montserrat"/>
            </a:endParaRPr>
          </a:p>
          <a:p>
            <a:pPr>
              <a:lnSpc>
                <a:spcPts val="3000"/>
              </a:lnSpc>
            </a:pPr>
            <a:endParaRPr lang="en-US" sz="3600" dirty="0">
              <a:solidFill>
                <a:srgbClr val="FFFFFF"/>
              </a:solidFill>
              <a:latin typeface="Montserrat"/>
              <a:ea typeface="Montserrat"/>
              <a:cs typeface="Montserrat"/>
              <a:sym typeface="Montserrat"/>
            </a:endParaRPr>
          </a:p>
          <a:p>
            <a:pPr>
              <a:lnSpc>
                <a:spcPts val="3000"/>
              </a:lnSpc>
            </a:pPr>
            <a:endParaRPr lang="en-US" sz="3600" dirty="0">
              <a:solidFill>
                <a:srgbClr val="FFFFFF"/>
              </a:solidFill>
              <a:latin typeface="Montserrat"/>
              <a:ea typeface="Montserrat"/>
              <a:cs typeface="Montserrat"/>
              <a:sym typeface="Montserrat"/>
            </a:endParaRPr>
          </a:p>
          <a:p>
            <a:pPr>
              <a:lnSpc>
                <a:spcPts val="3000"/>
              </a:lnSpc>
            </a:pPr>
            <a:endParaRPr lang="en-US" sz="3600" dirty="0">
              <a:solidFill>
                <a:srgbClr val="FFFFFF"/>
              </a:solidFill>
              <a:latin typeface="Montserrat"/>
              <a:ea typeface="Montserrat"/>
              <a:cs typeface="Montserrat"/>
              <a:sym typeface="Montserrat"/>
            </a:endParaRPr>
          </a:p>
          <a:p>
            <a:pPr>
              <a:lnSpc>
                <a:spcPts val="3000"/>
              </a:lnSpc>
            </a:pPr>
            <a:r>
              <a:rPr lang="en-US" sz="3600" dirty="0">
                <a:solidFill>
                  <a:srgbClr val="FFFFFF"/>
                </a:solidFill>
                <a:latin typeface="Montserrat"/>
                <a:ea typeface="Montserrat"/>
                <a:cs typeface="Montserrat"/>
                <a:sym typeface="Montserrat"/>
              </a:rPr>
              <a:t>Source: CISA (Cybersecurity Agency) guidelines 11.</a:t>
            </a:r>
          </a:p>
          <a:p>
            <a:pPr>
              <a:lnSpc>
                <a:spcPts val="3000"/>
              </a:lnSpc>
            </a:pPr>
            <a:endParaRPr lang="en-US" sz="2000" dirty="0">
              <a:solidFill>
                <a:srgbClr val="FFFFFF"/>
              </a:solidFill>
              <a:latin typeface="Montserrat"/>
              <a:ea typeface="Montserrat"/>
              <a:cs typeface="Montserrat"/>
              <a:sym typeface="Montserrat"/>
            </a:endParaRPr>
          </a:p>
        </p:txBody>
      </p:sp>
      <p:sp>
        <p:nvSpPr>
          <p:cNvPr id="32" name="Freeform 32"/>
          <p:cNvSpPr/>
          <p:nvPr/>
        </p:nvSpPr>
        <p:spPr>
          <a:xfrm rot="-10800000">
            <a:off x="13934890" y="8279168"/>
            <a:ext cx="6385195" cy="928756"/>
          </a:xfrm>
          <a:custGeom>
            <a:avLst/>
            <a:gdLst/>
            <a:ahLst/>
            <a:cxnLst/>
            <a:rect l="l" t="t" r="r" b="b"/>
            <a:pathLst>
              <a:path w="6385195" h="928756">
                <a:moveTo>
                  <a:pt x="0" y="0"/>
                </a:moveTo>
                <a:lnTo>
                  <a:pt x="6385195" y="0"/>
                </a:lnTo>
                <a:lnTo>
                  <a:pt x="6385195" y="928756"/>
                </a:lnTo>
                <a:lnTo>
                  <a:pt x="0" y="9287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7" name="Freeform 14">
            <a:extLst>
              <a:ext uri="{FF2B5EF4-FFF2-40B4-BE49-F238E27FC236}">
                <a16:creationId xmlns:a16="http://schemas.microsoft.com/office/drawing/2014/main" id="{05171D37-B20B-08B6-350C-8CBD5966FD22}"/>
              </a:ext>
            </a:extLst>
          </p:cNvPr>
          <p:cNvSpPr/>
          <p:nvPr/>
        </p:nvSpPr>
        <p:spPr>
          <a:xfrm rot="-10792129">
            <a:off x="-1773872" y="541167"/>
            <a:ext cx="6693358" cy="1331770"/>
          </a:xfrm>
          <a:custGeom>
            <a:avLst/>
            <a:gdLst/>
            <a:ahLst/>
            <a:cxnLst/>
            <a:rect l="l" t="t" r="r" b="b"/>
            <a:pathLst>
              <a:path w="9155917" h="1331770">
                <a:moveTo>
                  <a:pt x="0" y="0"/>
                </a:moveTo>
                <a:lnTo>
                  <a:pt x="9155917" y="0"/>
                </a:lnTo>
                <a:lnTo>
                  <a:pt x="9155917" y="1331770"/>
                </a:lnTo>
                <a:lnTo>
                  <a:pt x="0" y="13317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2" name="Freeform 14">
            <a:extLst>
              <a:ext uri="{FF2B5EF4-FFF2-40B4-BE49-F238E27FC236}">
                <a16:creationId xmlns:a16="http://schemas.microsoft.com/office/drawing/2014/main" id="{2C560E60-3493-82D8-A4EA-774A2F6D2F61}"/>
              </a:ext>
            </a:extLst>
          </p:cNvPr>
          <p:cNvSpPr/>
          <p:nvPr/>
        </p:nvSpPr>
        <p:spPr>
          <a:xfrm rot="-10792129">
            <a:off x="12675778" y="7401295"/>
            <a:ext cx="9155917" cy="1331770"/>
          </a:xfrm>
          <a:custGeom>
            <a:avLst/>
            <a:gdLst/>
            <a:ahLst/>
            <a:cxnLst/>
            <a:rect l="l" t="t" r="r" b="b"/>
            <a:pathLst>
              <a:path w="9155917" h="1331770">
                <a:moveTo>
                  <a:pt x="0" y="0"/>
                </a:moveTo>
                <a:lnTo>
                  <a:pt x="9155917" y="0"/>
                </a:lnTo>
                <a:lnTo>
                  <a:pt x="9155917" y="1331770"/>
                </a:lnTo>
                <a:lnTo>
                  <a:pt x="0" y="13317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3074" name="Picture 2" descr="How LockBit 2.0 Ransomware Works">
            <a:hlinkClick r:id="rId6"/>
            <a:extLst>
              <a:ext uri="{FF2B5EF4-FFF2-40B4-BE49-F238E27FC236}">
                <a16:creationId xmlns:a16="http://schemas.microsoft.com/office/drawing/2014/main" id="{FCAAD4E4-10CC-644E-12C5-5A116948BF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49314" y="5897693"/>
            <a:ext cx="6385195" cy="3938862"/>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Using Leaked Ransomware Builders in Tech Scams">
            <a:extLst>
              <a:ext uri="{FF2B5EF4-FFF2-40B4-BE49-F238E27FC236}">
                <a16:creationId xmlns:a16="http://schemas.microsoft.com/office/drawing/2014/main" id="{81A05F27-ADCF-8EC9-8A9B-56253D53060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49314" y="2151882"/>
            <a:ext cx="8100937" cy="32455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60F"/>
        </a:solidFill>
        <a:effectLst/>
      </p:bgPr>
    </p:bg>
    <p:spTree>
      <p:nvGrpSpPr>
        <p:cNvPr id="1" name=""/>
        <p:cNvGrpSpPr/>
        <p:nvPr/>
      </p:nvGrpSpPr>
      <p:grpSpPr>
        <a:xfrm>
          <a:off x="0" y="0"/>
          <a:ext cx="0" cy="0"/>
          <a:chOff x="0" y="0"/>
          <a:chExt cx="0" cy="0"/>
        </a:xfrm>
      </p:grpSpPr>
      <p:grpSp>
        <p:nvGrpSpPr>
          <p:cNvPr id="37" name="Group 37"/>
          <p:cNvGrpSpPr/>
          <p:nvPr/>
        </p:nvGrpSpPr>
        <p:grpSpPr>
          <a:xfrm>
            <a:off x="9144000" y="3861013"/>
            <a:ext cx="828889" cy="834491"/>
            <a:chOff x="23236" y="-19051"/>
            <a:chExt cx="807344" cy="812800"/>
          </a:xfrm>
        </p:grpSpPr>
        <p:sp>
          <p:nvSpPr>
            <p:cNvPr id="38" name="Freeform 38"/>
            <p:cNvSpPr/>
            <p:nvPr/>
          </p:nvSpPr>
          <p:spPr>
            <a:xfrm>
              <a:off x="23236" y="-19051"/>
              <a:ext cx="807344" cy="812800"/>
            </a:xfrm>
            <a:custGeom>
              <a:avLst/>
              <a:gdLst/>
              <a:ahLst/>
              <a:cxnLst/>
              <a:rect l="l" t="t" r="r" b="b"/>
              <a:pathLst>
                <a:path w="807344" h="812800">
                  <a:moveTo>
                    <a:pt x="403672" y="0"/>
                  </a:moveTo>
                  <a:cubicBezTo>
                    <a:pt x="180730" y="0"/>
                    <a:pt x="0" y="181951"/>
                    <a:pt x="0" y="406400"/>
                  </a:cubicBezTo>
                  <a:cubicBezTo>
                    <a:pt x="0" y="630849"/>
                    <a:pt x="180730" y="812800"/>
                    <a:pt x="403672" y="812800"/>
                  </a:cubicBezTo>
                  <a:cubicBezTo>
                    <a:pt x="626614" y="812800"/>
                    <a:pt x="807344" y="630849"/>
                    <a:pt x="807344" y="406400"/>
                  </a:cubicBezTo>
                  <a:cubicBezTo>
                    <a:pt x="807344" y="181951"/>
                    <a:pt x="626614" y="0"/>
                    <a:pt x="403672" y="0"/>
                  </a:cubicBezTo>
                  <a:close/>
                </a:path>
              </a:pathLst>
            </a:custGeom>
            <a:solidFill>
              <a:srgbClr val="FFFFFF"/>
            </a:solidFill>
          </p:spPr>
          <p:txBody>
            <a:bodyPr/>
            <a:lstStyle/>
            <a:p>
              <a:endParaRPr lang="en-US"/>
            </a:p>
          </p:txBody>
        </p:sp>
        <p:sp>
          <p:nvSpPr>
            <p:cNvPr id="39" name="TextBox 39"/>
            <p:cNvSpPr txBox="1"/>
            <p:nvPr/>
          </p:nvSpPr>
          <p:spPr>
            <a:xfrm>
              <a:off x="75689" y="38100"/>
              <a:ext cx="655967" cy="698500"/>
            </a:xfrm>
            <a:prstGeom prst="rect">
              <a:avLst/>
            </a:prstGeom>
          </p:spPr>
          <p:txBody>
            <a:bodyPr lIns="362440" tIns="362440" rIns="362440" bIns="362440" rtlCol="0" anchor="ctr"/>
            <a:lstStyle/>
            <a:p>
              <a:pPr algn="ctr">
                <a:lnSpc>
                  <a:spcPts val="2660"/>
                </a:lnSpc>
              </a:pPr>
              <a:endParaRPr/>
            </a:p>
          </p:txBody>
        </p:sp>
      </p:grpSp>
      <p:grpSp>
        <p:nvGrpSpPr>
          <p:cNvPr id="40" name="Group 40"/>
          <p:cNvGrpSpPr/>
          <p:nvPr/>
        </p:nvGrpSpPr>
        <p:grpSpPr>
          <a:xfrm>
            <a:off x="9144000" y="5906446"/>
            <a:ext cx="828889" cy="834491"/>
            <a:chOff x="0" y="0"/>
            <a:chExt cx="807344" cy="812800"/>
          </a:xfrm>
        </p:grpSpPr>
        <p:sp>
          <p:nvSpPr>
            <p:cNvPr id="41" name="Freeform 41"/>
            <p:cNvSpPr/>
            <p:nvPr/>
          </p:nvSpPr>
          <p:spPr>
            <a:xfrm>
              <a:off x="0" y="0"/>
              <a:ext cx="807344" cy="812800"/>
            </a:xfrm>
            <a:custGeom>
              <a:avLst/>
              <a:gdLst/>
              <a:ahLst/>
              <a:cxnLst/>
              <a:rect l="l" t="t" r="r" b="b"/>
              <a:pathLst>
                <a:path w="807344" h="812800">
                  <a:moveTo>
                    <a:pt x="403672" y="0"/>
                  </a:moveTo>
                  <a:cubicBezTo>
                    <a:pt x="180730" y="0"/>
                    <a:pt x="0" y="181951"/>
                    <a:pt x="0" y="406400"/>
                  </a:cubicBezTo>
                  <a:cubicBezTo>
                    <a:pt x="0" y="630849"/>
                    <a:pt x="180730" y="812800"/>
                    <a:pt x="403672" y="812800"/>
                  </a:cubicBezTo>
                  <a:cubicBezTo>
                    <a:pt x="626614" y="812800"/>
                    <a:pt x="807344" y="630849"/>
                    <a:pt x="807344" y="406400"/>
                  </a:cubicBezTo>
                  <a:cubicBezTo>
                    <a:pt x="807344" y="181951"/>
                    <a:pt x="626614" y="0"/>
                    <a:pt x="403672" y="0"/>
                  </a:cubicBezTo>
                  <a:close/>
                </a:path>
              </a:pathLst>
            </a:custGeom>
            <a:gradFill rotWithShape="1">
              <a:gsLst>
                <a:gs pos="0">
                  <a:srgbClr val="175DB7">
                    <a:alpha val="100000"/>
                  </a:srgbClr>
                </a:gs>
                <a:gs pos="100000">
                  <a:srgbClr val="13BFAF">
                    <a:alpha val="100000"/>
                  </a:srgbClr>
                </a:gs>
              </a:gsLst>
              <a:lin ang="0"/>
            </a:gradFill>
          </p:spPr>
          <p:txBody>
            <a:bodyPr/>
            <a:lstStyle/>
            <a:p>
              <a:endParaRPr lang="en-US"/>
            </a:p>
          </p:txBody>
        </p:sp>
        <p:sp>
          <p:nvSpPr>
            <p:cNvPr id="42" name="TextBox 42"/>
            <p:cNvSpPr txBox="1"/>
            <p:nvPr/>
          </p:nvSpPr>
          <p:spPr>
            <a:xfrm>
              <a:off x="75689" y="38100"/>
              <a:ext cx="655967" cy="698500"/>
            </a:xfrm>
            <a:prstGeom prst="rect">
              <a:avLst/>
            </a:prstGeom>
          </p:spPr>
          <p:txBody>
            <a:bodyPr lIns="362440" tIns="362440" rIns="362440" bIns="362440" rtlCol="0" anchor="ctr"/>
            <a:lstStyle/>
            <a:p>
              <a:pPr algn="ctr">
                <a:lnSpc>
                  <a:spcPts val="2660"/>
                </a:lnSpc>
              </a:pPr>
              <a:endParaRPr/>
            </a:p>
          </p:txBody>
        </p:sp>
      </p:grpSp>
      <p:grpSp>
        <p:nvGrpSpPr>
          <p:cNvPr id="43" name="Group 43"/>
          <p:cNvGrpSpPr/>
          <p:nvPr/>
        </p:nvGrpSpPr>
        <p:grpSpPr>
          <a:xfrm>
            <a:off x="9144000" y="8002106"/>
            <a:ext cx="828889" cy="834491"/>
            <a:chOff x="0" y="0"/>
            <a:chExt cx="807344" cy="812800"/>
          </a:xfrm>
        </p:grpSpPr>
        <p:sp>
          <p:nvSpPr>
            <p:cNvPr id="44" name="Freeform 44"/>
            <p:cNvSpPr/>
            <p:nvPr/>
          </p:nvSpPr>
          <p:spPr>
            <a:xfrm>
              <a:off x="0" y="0"/>
              <a:ext cx="807344" cy="812800"/>
            </a:xfrm>
            <a:custGeom>
              <a:avLst/>
              <a:gdLst/>
              <a:ahLst/>
              <a:cxnLst/>
              <a:rect l="l" t="t" r="r" b="b"/>
              <a:pathLst>
                <a:path w="807344" h="812800">
                  <a:moveTo>
                    <a:pt x="403672" y="0"/>
                  </a:moveTo>
                  <a:cubicBezTo>
                    <a:pt x="180730" y="0"/>
                    <a:pt x="0" y="181951"/>
                    <a:pt x="0" y="406400"/>
                  </a:cubicBezTo>
                  <a:cubicBezTo>
                    <a:pt x="0" y="630849"/>
                    <a:pt x="180730" y="812800"/>
                    <a:pt x="403672" y="812800"/>
                  </a:cubicBezTo>
                  <a:cubicBezTo>
                    <a:pt x="626614" y="812800"/>
                    <a:pt x="807344" y="630849"/>
                    <a:pt x="807344" y="406400"/>
                  </a:cubicBezTo>
                  <a:cubicBezTo>
                    <a:pt x="807344" y="181951"/>
                    <a:pt x="626614" y="0"/>
                    <a:pt x="403672" y="0"/>
                  </a:cubicBezTo>
                  <a:close/>
                </a:path>
              </a:pathLst>
            </a:custGeom>
            <a:gradFill rotWithShape="1">
              <a:gsLst>
                <a:gs pos="0">
                  <a:srgbClr val="175DB7">
                    <a:alpha val="100000"/>
                  </a:srgbClr>
                </a:gs>
                <a:gs pos="100000">
                  <a:srgbClr val="13BFAF">
                    <a:alpha val="100000"/>
                  </a:srgbClr>
                </a:gs>
              </a:gsLst>
              <a:lin ang="0"/>
            </a:gradFill>
          </p:spPr>
          <p:txBody>
            <a:bodyPr/>
            <a:lstStyle/>
            <a:p>
              <a:endParaRPr lang="en-US"/>
            </a:p>
          </p:txBody>
        </p:sp>
        <p:sp>
          <p:nvSpPr>
            <p:cNvPr id="45" name="TextBox 45"/>
            <p:cNvSpPr txBox="1"/>
            <p:nvPr/>
          </p:nvSpPr>
          <p:spPr>
            <a:xfrm>
              <a:off x="75689" y="38100"/>
              <a:ext cx="655967" cy="698500"/>
            </a:xfrm>
            <a:prstGeom prst="rect">
              <a:avLst/>
            </a:prstGeom>
          </p:spPr>
          <p:txBody>
            <a:bodyPr lIns="362440" tIns="362440" rIns="362440" bIns="362440" rtlCol="0" anchor="ctr"/>
            <a:lstStyle/>
            <a:p>
              <a:pPr algn="ctr">
                <a:lnSpc>
                  <a:spcPts val="2660"/>
                </a:lnSpc>
              </a:pPr>
              <a:endParaRPr/>
            </a:p>
          </p:txBody>
        </p:sp>
      </p:grpSp>
      <p:sp>
        <p:nvSpPr>
          <p:cNvPr id="46" name="Freeform 46"/>
          <p:cNvSpPr/>
          <p:nvPr/>
        </p:nvSpPr>
        <p:spPr>
          <a:xfrm>
            <a:off x="9378752" y="3986390"/>
            <a:ext cx="359385" cy="483280"/>
          </a:xfrm>
          <a:custGeom>
            <a:avLst/>
            <a:gdLst/>
            <a:ahLst/>
            <a:cxnLst/>
            <a:rect l="l" t="t" r="r" b="b"/>
            <a:pathLst>
              <a:path w="359385" h="483280">
                <a:moveTo>
                  <a:pt x="0" y="0"/>
                </a:moveTo>
                <a:lnTo>
                  <a:pt x="359385" y="0"/>
                </a:lnTo>
                <a:lnTo>
                  <a:pt x="359385" y="483281"/>
                </a:lnTo>
                <a:lnTo>
                  <a:pt x="0" y="4832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7" name="Freeform 47"/>
          <p:cNvSpPr/>
          <p:nvPr/>
        </p:nvSpPr>
        <p:spPr>
          <a:xfrm>
            <a:off x="9316805" y="6082051"/>
            <a:ext cx="483280" cy="483280"/>
          </a:xfrm>
          <a:custGeom>
            <a:avLst/>
            <a:gdLst/>
            <a:ahLst/>
            <a:cxnLst/>
            <a:rect l="l" t="t" r="r" b="b"/>
            <a:pathLst>
              <a:path w="483280" h="483280">
                <a:moveTo>
                  <a:pt x="0" y="0"/>
                </a:moveTo>
                <a:lnTo>
                  <a:pt x="483280" y="0"/>
                </a:lnTo>
                <a:lnTo>
                  <a:pt x="483280" y="483280"/>
                </a:lnTo>
                <a:lnTo>
                  <a:pt x="0" y="4832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8" name="Freeform 48"/>
          <p:cNvSpPr/>
          <p:nvPr/>
        </p:nvSpPr>
        <p:spPr>
          <a:xfrm>
            <a:off x="9355028" y="8177711"/>
            <a:ext cx="406834" cy="483280"/>
          </a:xfrm>
          <a:custGeom>
            <a:avLst/>
            <a:gdLst/>
            <a:ahLst/>
            <a:cxnLst/>
            <a:rect l="l" t="t" r="r" b="b"/>
            <a:pathLst>
              <a:path w="406834" h="483280">
                <a:moveTo>
                  <a:pt x="0" y="0"/>
                </a:moveTo>
                <a:lnTo>
                  <a:pt x="406834" y="0"/>
                </a:lnTo>
                <a:lnTo>
                  <a:pt x="406834" y="483280"/>
                </a:lnTo>
                <a:lnTo>
                  <a:pt x="0" y="483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2" name="TextBox 52"/>
          <p:cNvSpPr txBox="1"/>
          <p:nvPr/>
        </p:nvSpPr>
        <p:spPr>
          <a:xfrm>
            <a:off x="1008011" y="681364"/>
            <a:ext cx="10269590" cy="1635641"/>
          </a:xfrm>
          <a:prstGeom prst="rect">
            <a:avLst/>
          </a:prstGeom>
        </p:spPr>
        <p:txBody>
          <a:bodyPr wrap="square" lIns="0" tIns="0" rIns="0" bIns="0" rtlCol="0" anchor="t">
            <a:spAutoFit/>
          </a:bodyPr>
          <a:lstStyle/>
          <a:p>
            <a:pPr algn="l">
              <a:lnSpc>
                <a:spcPts val="6300"/>
              </a:lnSpc>
            </a:pPr>
            <a:r>
              <a:rPr lang="en-US" sz="7000" b="1" dirty="0">
                <a:solidFill>
                  <a:srgbClr val="FFFFFF"/>
                </a:solidFill>
                <a:latin typeface="Montserrat Bold"/>
                <a:ea typeface="Montserrat Bold"/>
                <a:cs typeface="Montserrat Bold"/>
                <a:sym typeface="Montserrat Bold"/>
              </a:rPr>
              <a:t>HOW TO PROTECT AGAINST</a:t>
            </a:r>
          </a:p>
        </p:txBody>
      </p:sp>
      <p:sp>
        <p:nvSpPr>
          <p:cNvPr id="53" name="TextBox 53"/>
          <p:cNvSpPr txBox="1"/>
          <p:nvPr/>
        </p:nvSpPr>
        <p:spPr>
          <a:xfrm>
            <a:off x="5410201" y="1448660"/>
            <a:ext cx="11734800" cy="897682"/>
          </a:xfrm>
          <a:prstGeom prst="rect">
            <a:avLst/>
          </a:prstGeom>
        </p:spPr>
        <p:txBody>
          <a:bodyPr wrap="square" lIns="0" tIns="0" rIns="0" bIns="0" rtlCol="0" anchor="t">
            <a:spAutoFit/>
          </a:bodyPr>
          <a:lstStyle/>
          <a:p>
            <a:pPr algn="l">
              <a:lnSpc>
                <a:spcPts val="7000"/>
              </a:lnSpc>
            </a:pPr>
            <a:r>
              <a:rPr lang="en-US" sz="7000" b="1" dirty="0">
                <a:solidFill>
                  <a:srgbClr val="37B4BE"/>
                </a:solidFill>
                <a:latin typeface="Montserrat Bold"/>
                <a:ea typeface="Montserrat Bold"/>
                <a:cs typeface="Montserrat Bold"/>
                <a:sym typeface="Montserrat Bold"/>
              </a:rPr>
              <a:t>LOCKBIT RANSOMWARE</a:t>
            </a:r>
          </a:p>
        </p:txBody>
      </p:sp>
      <p:sp>
        <p:nvSpPr>
          <p:cNvPr id="54" name="TextBox 54"/>
          <p:cNvSpPr txBox="1"/>
          <p:nvPr/>
        </p:nvSpPr>
        <p:spPr>
          <a:xfrm>
            <a:off x="10152011" y="3694616"/>
            <a:ext cx="7831739" cy="1884427"/>
          </a:xfrm>
          <a:prstGeom prst="rect">
            <a:avLst/>
          </a:prstGeom>
        </p:spPr>
        <p:txBody>
          <a:bodyPr wrap="square" lIns="0" tIns="0" rIns="0" bIns="0" rtlCol="0" anchor="t">
            <a:spAutoFit/>
          </a:bodyPr>
          <a:lstStyle/>
          <a:p>
            <a:pPr marL="285750" indent="-285750">
              <a:lnSpc>
                <a:spcPts val="3000"/>
              </a:lnSpc>
              <a:buFont typeface="Arial" panose="020B0604020202020204" pitchFamily="34" charset="0"/>
              <a:buChar char="•"/>
            </a:pPr>
            <a:r>
              <a:rPr lang="en-US" dirty="0">
                <a:solidFill>
                  <a:srgbClr val="FFFFFF"/>
                </a:solidFill>
                <a:latin typeface="Montserrat"/>
                <a:ea typeface="Montserrat"/>
                <a:cs typeface="Montserrat"/>
                <a:sym typeface="Montserrat"/>
              </a:rPr>
              <a:t>Mandate Multi-Factor Authentication (MFA): Apply MFA to all public-facing services (e.g., VPNs, RDP) to block credential-based attacks 1813.</a:t>
            </a:r>
          </a:p>
          <a:p>
            <a:pPr marL="285750" indent="-285750">
              <a:lnSpc>
                <a:spcPts val="3000"/>
              </a:lnSpc>
              <a:buFont typeface="Arial" panose="020B0604020202020204" pitchFamily="34" charset="0"/>
              <a:buChar char="•"/>
            </a:pPr>
            <a:r>
              <a:rPr lang="en-US" dirty="0">
                <a:solidFill>
                  <a:srgbClr val="FFFFFF"/>
                </a:solidFill>
                <a:latin typeface="Montserrat"/>
                <a:ea typeface="Montserrat"/>
                <a:cs typeface="Montserrat"/>
                <a:sym typeface="Montserrat"/>
              </a:rPr>
              <a:t> Enforce Strong Passwords: Use 15+ character passwords with symbols/numbers; avoid reusing credentials</a:t>
            </a:r>
          </a:p>
        </p:txBody>
      </p:sp>
      <p:sp>
        <p:nvSpPr>
          <p:cNvPr id="55" name="TextBox 55"/>
          <p:cNvSpPr txBox="1"/>
          <p:nvPr/>
        </p:nvSpPr>
        <p:spPr>
          <a:xfrm>
            <a:off x="10243825" y="3324333"/>
            <a:ext cx="7648113" cy="595356"/>
          </a:xfrm>
          <a:prstGeom prst="rect">
            <a:avLst/>
          </a:prstGeom>
        </p:spPr>
        <p:txBody>
          <a:bodyPr lIns="0" tIns="0" rIns="0" bIns="0" rtlCol="0" anchor="t">
            <a:spAutoFit/>
          </a:bodyPr>
          <a:lstStyle/>
          <a:p>
            <a:pPr>
              <a:lnSpc>
                <a:spcPts val="2250"/>
              </a:lnSpc>
            </a:pPr>
            <a:r>
              <a:rPr lang="en-US" sz="2500" b="1" dirty="0">
                <a:solidFill>
                  <a:srgbClr val="FFFFFF"/>
                </a:solidFill>
                <a:latin typeface="Montserrat Bold"/>
                <a:ea typeface="Montserrat Bold"/>
                <a:cs typeface="Montserrat Bold"/>
                <a:sym typeface="Montserrat Bold"/>
              </a:rPr>
              <a:t>Strengthen Access Controls</a:t>
            </a:r>
          </a:p>
          <a:p>
            <a:pPr>
              <a:lnSpc>
                <a:spcPts val="2250"/>
              </a:lnSpc>
            </a:pPr>
            <a:endParaRPr lang="en-US" sz="2500" b="1" dirty="0">
              <a:solidFill>
                <a:srgbClr val="FFFFFF"/>
              </a:solidFill>
              <a:latin typeface="Montserrat Bold"/>
              <a:ea typeface="Montserrat Bold"/>
              <a:cs typeface="Montserrat Bold"/>
              <a:sym typeface="Montserrat Bold"/>
            </a:endParaRPr>
          </a:p>
        </p:txBody>
      </p:sp>
      <p:sp>
        <p:nvSpPr>
          <p:cNvPr id="56" name="TextBox 56"/>
          <p:cNvSpPr txBox="1"/>
          <p:nvPr/>
        </p:nvSpPr>
        <p:spPr>
          <a:xfrm>
            <a:off x="10152011" y="6284171"/>
            <a:ext cx="7648113" cy="1506053"/>
          </a:xfrm>
          <a:prstGeom prst="rect">
            <a:avLst/>
          </a:prstGeom>
        </p:spPr>
        <p:txBody>
          <a:bodyPr lIns="0" tIns="0" rIns="0" bIns="0" rtlCol="0" anchor="t">
            <a:spAutoFit/>
          </a:bodyPr>
          <a:lstStyle/>
          <a:p>
            <a:pPr marL="342900" indent="-342900">
              <a:lnSpc>
                <a:spcPts val="3000"/>
              </a:lnSpc>
              <a:buFont typeface="Arial" panose="020B0604020202020204" pitchFamily="34" charset="0"/>
              <a:buChar char="•"/>
            </a:pPr>
            <a:r>
              <a:rPr lang="en-US" sz="2000" dirty="0">
                <a:solidFill>
                  <a:srgbClr val="FFFFFF"/>
                </a:solidFill>
                <a:latin typeface="Montserrat"/>
                <a:ea typeface="Montserrat"/>
                <a:cs typeface="Montserrat"/>
                <a:sym typeface="Montserrat"/>
              </a:rPr>
              <a:t>Phishing Simulations: Train staff to recognize malicious emails (common </a:t>
            </a:r>
            <a:r>
              <a:rPr lang="en-US" sz="2000" dirty="0" err="1">
                <a:solidFill>
                  <a:srgbClr val="FFFFFF"/>
                </a:solidFill>
                <a:latin typeface="Montserrat"/>
                <a:ea typeface="Montserrat"/>
                <a:cs typeface="Montserrat"/>
                <a:sym typeface="Montserrat"/>
              </a:rPr>
              <a:t>LockBit</a:t>
            </a:r>
            <a:r>
              <a:rPr lang="en-US" sz="2000" dirty="0">
                <a:solidFill>
                  <a:srgbClr val="FFFFFF"/>
                </a:solidFill>
                <a:latin typeface="Montserrat"/>
                <a:ea typeface="Montserrat"/>
                <a:cs typeface="Montserrat"/>
                <a:sym typeface="Montserrat"/>
              </a:rPr>
              <a:t> entry point) </a:t>
            </a:r>
          </a:p>
          <a:p>
            <a:pPr marL="342900" indent="-342900">
              <a:lnSpc>
                <a:spcPts val="3000"/>
              </a:lnSpc>
              <a:buFont typeface="Arial" panose="020B0604020202020204" pitchFamily="34" charset="0"/>
              <a:buChar char="•"/>
            </a:pPr>
            <a:r>
              <a:rPr lang="en-US" sz="2000" dirty="0">
                <a:solidFill>
                  <a:srgbClr val="FFFFFF"/>
                </a:solidFill>
                <a:latin typeface="Montserrat"/>
                <a:ea typeface="Montserrat"/>
                <a:cs typeface="Montserrat"/>
                <a:sym typeface="Montserrat"/>
              </a:rPr>
              <a:t>Incident Reporting: Establish clear protocols for reporting suspicious activity </a:t>
            </a:r>
          </a:p>
        </p:txBody>
      </p:sp>
      <p:sp>
        <p:nvSpPr>
          <p:cNvPr id="57" name="TextBox 57"/>
          <p:cNvSpPr txBox="1"/>
          <p:nvPr/>
        </p:nvSpPr>
        <p:spPr>
          <a:xfrm>
            <a:off x="10341815" y="5906446"/>
            <a:ext cx="7648113" cy="304810"/>
          </a:xfrm>
          <a:prstGeom prst="rect">
            <a:avLst/>
          </a:prstGeom>
        </p:spPr>
        <p:txBody>
          <a:bodyPr lIns="0" tIns="0" rIns="0" bIns="0" rtlCol="0" anchor="t">
            <a:spAutoFit/>
          </a:bodyPr>
          <a:lstStyle/>
          <a:p>
            <a:pPr algn="l">
              <a:lnSpc>
                <a:spcPts val="2250"/>
              </a:lnSpc>
            </a:pPr>
            <a:r>
              <a:rPr lang="en-US" sz="2500" b="1" dirty="0">
                <a:solidFill>
                  <a:srgbClr val="FFFFFF"/>
                </a:solidFill>
                <a:latin typeface="Montserrat Bold"/>
                <a:ea typeface="Montserrat Bold"/>
                <a:cs typeface="Montserrat Bold"/>
                <a:sym typeface="Montserrat Bold"/>
              </a:rPr>
              <a:t>Employee Training</a:t>
            </a:r>
          </a:p>
        </p:txBody>
      </p:sp>
      <p:sp>
        <p:nvSpPr>
          <p:cNvPr id="58" name="TextBox 58"/>
          <p:cNvSpPr txBox="1"/>
          <p:nvPr/>
        </p:nvSpPr>
        <p:spPr>
          <a:xfrm>
            <a:off x="10152011" y="8495352"/>
            <a:ext cx="7648113" cy="1121333"/>
          </a:xfrm>
          <a:prstGeom prst="rect">
            <a:avLst/>
          </a:prstGeom>
        </p:spPr>
        <p:txBody>
          <a:bodyPr lIns="0" tIns="0" rIns="0" bIns="0" rtlCol="0" anchor="t">
            <a:spAutoFit/>
          </a:bodyPr>
          <a:lstStyle/>
          <a:p>
            <a:pPr marL="342900" indent="-342900">
              <a:lnSpc>
                <a:spcPts val="3000"/>
              </a:lnSpc>
              <a:buFont typeface="Arial" panose="020B0604020202020204" pitchFamily="34" charset="0"/>
              <a:buChar char="•"/>
            </a:pPr>
            <a:r>
              <a:rPr lang="en-US" sz="2000" dirty="0">
                <a:solidFill>
                  <a:srgbClr val="FFFFFF"/>
                </a:solidFill>
                <a:latin typeface="Montserrat"/>
                <a:ea typeface="Montserrat"/>
                <a:cs typeface="Montserrat"/>
                <a:sym typeface="Montserrat"/>
              </a:rPr>
              <a:t>Automate Updates: Ensure OS, software, and firmware updates are applied promptly </a:t>
            </a:r>
          </a:p>
          <a:p>
            <a:pPr>
              <a:lnSpc>
                <a:spcPts val="3000"/>
              </a:lnSpc>
            </a:pPr>
            <a:endParaRPr lang="en-US" sz="2000" dirty="0">
              <a:solidFill>
                <a:srgbClr val="FFFFFF"/>
              </a:solidFill>
              <a:latin typeface="Montserrat"/>
              <a:ea typeface="Montserrat"/>
              <a:cs typeface="Montserrat"/>
              <a:sym typeface="Montserrat"/>
            </a:endParaRPr>
          </a:p>
        </p:txBody>
      </p:sp>
      <p:sp>
        <p:nvSpPr>
          <p:cNvPr id="59" name="TextBox 59"/>
          <p:cNvSpPr txBox="1"/>
          <p:nvPr/>
        </p:nvSpPr>
        <p:spPr>
          <a:xfrm>
            <a:off x="10303861" y="8078306"/>
            <a:ext cx="7648113" cy="304810"/>
          </a:xfrm>
          <a:prstGeom prst="rect">
            <a:avLst/>
          </a:prstGeom>
        </p:spPr>
        <p:txBody>
          <a:bodyPr lIns="0" tIns="0" rIns="0" bIns="0" rtlCol="0" anchor="t">
            <a:spAutoFit/>
          </a:bodyPr>
          <a:lstStyle/>
          <a:p>
            <a:pPr algn="l">
              <a:lnSpc>
                <a:spcPts val="2250"/>
              </a:lnSpc>
            </a:pPr>
            <a:r>
              <a:rPr lang="en-US" sz="2500" b="1" dirty="0">
                <a:solidFill>
                  <a:srgbClr val="FFFFFF"/>
                </a:solidFill>
                <a:latin typeface="Montserrat Bold"/>
                <a:ea typeface="Montserrat Bold"/>
                <a:cs typeface="Montserrat Bold"/>
                <a:sym typeface="Montserrat Bold"/>
              </a:rPr>
              <a:t>Patch and Update Systems</a:t>
            </a:r>
          </a:p>
        </p:txBody>
      </p:sp>
      <p:grpSp>
        <p:nvGrpSpPr>
          <p:cNvPr id="67" name="Group 13">
            <a:extLst>
              <a:ext uri="{FF2B5EF4-FFF2-40B4-BE49-F238E27FC236}">
                <a16:creationId xmlns:a16="http://schemas.microsoft.com/office/drawing/2014/main" id="{BE4EE312-518C-7325-3E7F-2E9FD9E0BD0C}"/>
              </a:ext>
            </a:extLst>
          </p:cNvPr>
          <p:cNvGrpSpPr/>
          <p:nvPr/>
        </p:nvGrpSpPr>
        <p:grpSpPr>
          <a:xfrm>
            <a:off x="-2895600" y="4396424"/>
            <a:ext cx="10114840" cy="7211364"/>
            <a:chOff x="-188444" y="-191390"/>
            <a:chExt cx="437910" cy="236350"/>
          </a:xfrm>
        </p:grpSpPr>
        <p:sp>
          <p:nvSpPr>
            <p:cNvPr id="68" name="Freeform 14">
              <a:extLst>
                <a:ext uri="{FF2B5EF4-FFF2-40B4-BE49-F238E27FC236}">
                  <a16:creationId xmlns:a16="http://schemas.microsoft.com/office/drawing/2014/main" id="{81BE5B65-2D14-B2C3-9F13-9B3CE8DD844C}"/>
                </a:ext>
              </a:extLst>
            </p:cNvPr>
            <p:cNvSpPr/>
            <p:nvPr/>
          </p:nvSpPr>
          <p:spPr>
            <a:xfrm>
              <a:off x="-188444" y="-191390"/>
              <a:ext cx="437910" cy="182887"/>
            </a:xfrm>
            <a:custGeom>
              <a:avLst/>
              <a:gdLst/>
              <a:ahLst/>
              <a:cxnLst/>
              <a:rect l="l" t="t" r="r" b="b"/>
              <a:pathLst>
                <a:path w="137582" h="44960">
                  <a:moveTo>
                    <a:pt x="0" y="0"/>
                  </a:moveTo>
                  <a:lnTo>
                    <a:pt x="137582" y="0"/>
                  </a:lnTo>
                  <a:lnTo>
                    <a:pt x="137582" y="44960"/>
                  </a:lnTo>
                  <a:lnTo>
                    <a:pt x="0" y="44960"/>
                  </a:lnTo>
                  <a:close/>
                </a:path>
              </a:pathLst>
            </a:custGeom>
            <a:gradFill rotWithShape="1">
              <a:gsLst>
                <a:gs pos="0">
                  <a:srgbClr val="175DB7">
                    <a:alpha val="100000"/>
                  </a:srgbClr>
                </a:gs>
                <a:gs pos="100000">
                  <a:srgbClr val="13BFAF">
                    <a:alpha val="100000"/>
                  </a:srgbClr>
                </a:gs>
              </a:gsLst>
              <a:lin ang="0"/>
            </a:gradFill>
          </p:spPr>
          <p:txBody>
            <a:bodyPr/>
            <a:lstStyle/>
            <a:p>
              <a:endParaRPr lang="en-US" dirty="0"/>
            </a:p>
          </p:txBody>
        </p:sp>
        <p:sp>
          <p:nvSpPr>
            <p:cNvPr id="69" name="TextBox 15">
              <a:extLst>
                <a:ext uri="{FF2B5EF4-FFF2-40B4-BE49-F238E27FC236}">
                  <a16:creationId xmlns:a16="http://schemas.microsoft.com/office/drawing/2014/main" id="{5CB8CBF7-1216-71B9-5A11-9BAACF9C5CD7}"/>
                </a:ext>
              </a:extLst>
            </p:cNvPr>
            <p:cNvSpPr txBox="1"/>
            <p:nvPr/>
          </p:nvSpPr>
          <p:spPr>
            <a:xfrm>
              <a:off x="0" y="-38100"/>
              <a:ext cx="137582" cy="83060"/>
            </a:xfrm>
            <a:prstGeom prst="rect">
              <a:avLst/>
            </a:prstGeom>
          </p:spPr>
          <p:txBody>
            <a:bodyPr lIns="362344" tIns="362344" rIns="362344" bIns="362344" rtlCol="0" anchor="ctr"/>
            <a:lstStyle/>
            <a:p>
              <a:pPr algn="ctr">
                <a:lnSpc>
                  <a:spcPts val="2659"/>
                </a:lnSpc>
              </a:pPr>
              <a:endParaRPr/>
            </a:p>
          </p:txBody>
        </p:sp>
      </p:grpSp>
      <p:pic>
        <p:nvPicPr>
          <p:cNvPr id="62" name="Picture 61" descr="A group of people holding signs and a padlock&#10;&#10;AI-generated content may be incorrect.">
            <a:extLst>
              <a:ext uri="{FF2B5EF4-FFF2-40B4-BE49-F238E27FC236}">
                <a16:creationId xmlns:a16="http://schemas.microsoft.com/office/drawing/2014/main" id="{B3A30336-41A5-A75A-2254-C23619BC1201}"/>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336026" y="2663825"/>
            <a:ext cx="8256454" cy="59773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pic>
          <p:nvPicPr>
            <p:cNvPr id="3" name="Picture 3"/>
            <p:cNvPicPr>
              <a:picLocks noChangeAspect="1"/>
            </p:cNvPicPr>
            <p:nvPr/>
          </p:nvPicPr>
          <p:blipFill>
            <a:blip r:embed="rId2"/>
            <a:srcRect/>
            <a:stretch>
              <a:fillRect/>
            </a:stretch>
          </p:blipFill>
          <p:spPr>
            <a:xfrm>
              <a:off x="0" y="0"/>
              <a:ext cx="24384000" cy="13716000"/>
            </a:xfrm>
            <a:prstGeom prst="rect">
              <a:avLst/>
            </a:prstGeom>
          </p:spPr>
        </p:pic>
      </p:grpSp>
      <p:grpSp>
        <p:nvGrpSpPr>
          <p:cNvPr id="4" name="Group 4"/>
          <p:cNvGrpSpPr/>
          <p:nvPr/>
        </p:nvGrpSpPr>
        <p:grpSpPr>
          <a:xfrm>
            <a:off x="1028700" y="37216"/>
            <a:ext cx="17877978" cy="10365470"/>
            <a:chOff x="0" y="0"/>
            <a:chExt cx="675277" cy="379844"/>
          </a:xfrm>
        </p:grpSpPr>
        <p:sp>
          <p:nvSpPr>
            <p:cNvPr id="5" name="Freeform 5"/>
            <p:cNvSpPr/>
            <p:nvPr/>
          </p:nvSpPr>
          <p:spPr>
            <a:xfrm>
              <a:off x="0" y="0"/>
              <a:ext cx="675277" cy="379844"/>
            </a:xfrm>
            <a:custGeom>
              <a:avLst/>
              <a:gdLst/>
              <a:ahLst/>
              <a:cxnLst/>
              <a:rect l="l" t="t" r="r" b="b"/>
              <a:pathLst>
                <a:path w="675277" h="379844">
                  <a:moveTo>
                    <a:pt x="0" y="0"/>
                  </a:moveTo>
                  <a:lnTo>
                    <a:pt x="675277" y="0"/>
                  </a:lnTo>
                  <a:lnTo>
                    <a:pt x="675277" y="379844"/>
                  </a:lnTo>
                  <a:lnTo>
                    <a:pt x="0" y="379844"/>
                  </a:lnTo>
                  <a:close/>
                </a:path>
              </a:pathLst>
            </a:custGeom>
            <a:solidFill>
              <a:srgbClr val="02060F">
                <a:alpha val="40000"/>
              </a:srgbClr>
            </a:solidFill>
          </p:spPr>
          <p:txBody>
            <a:bodyPr/>
            <a:lstStyle/>
            <a:p>
              <a:endParaRPr lang="en-US"/>
            </a:p>
          </p:txBody>
        </p:sp>
        <p:sp>
          <p:nvSpPr>
            <p:cNvPr id="6" name="TextBox 6"/>
            <p:cNvSpPr txBox="1"/>
            <p:nvPr/>
          </p:nvSpPr>
          <p:spPr>
            <a:xfrm>
              <a:off x="0" y="-38100"/>
              <a:ext cx="675277" cy="417944"/>
            </a:xfrm>
            <a:prstGeom prst="rect">
              <a:avLst/>
            </a:prstGeom>
          </p:spPr>
          <p:txBody>
            <a:bodyPr lIns="362344" tIns="362344" rIns="362344" bIns="362344" rtlCol="0" anchor="ctr"/>
            <a:lstStyle/>
            <a:p>
              <a:pPr algn="ctr">
                <a:lnSpc>
                  <a:spcPts val="2660"/>
                </a:lnSpc>
              </a:pPr>
              <a:endParaRPr/>
            </a:p>
          </p:txBody>
        </p:sp>
      </p:grpSp>
      <p:grpSp>
        <p:nvGrpSpPr>
          <p:cNvPr id="7" name="Group 7"/>
          <p:cNvGrpSpPr/>
          <p:nvPr/>
        </p:nvGrpSpPr>
        <p:grpSpPr>
          <a:xfrm>
            <a:off x="-1" y="-2568897"/>
            <a:ext cx="11706672" cy="10055570"/>
            <a:chOff x="0" y="-38100"/>
            <a:chExt cx="377766" cy="274000"/>
          </a:xfrm>
        </p:grpSpPr>
        <p:sp>
          <p:nvSpPr>
            <p:cNvPr id="8" name="Freeform 8"/>
            <p:cNvSpPr/>
            <p:nvPr/>
          </p:nvSpPr>
          <p:spPr>
            <a:xfrm>
              <a:off x="19746" y="100444"/>
              <a:ext cx="358020" cy="135456"/>
            </a:xfrm>
            <a:custGeom>
              <a:avLst/>
              <a:gdLst/>
              <a:ahLst/>
              <a:cxnLst/>
              <a:rect l="l" t="t" r="r" b="b"/>
              <a:pathLst>
                <a:path w="358020" h="135456">
                  <a:moveTo>
                    <a:pt x="0" y="0"/>
                  </a:moveTo>
                  <a:lnTo>
                    <a:pt x="358020" y="0"/>
                  </a:lnTo>
                  <a:lnTo>
                    <a:pt x="358020" y="135456"/>
                  </a:lnTo>
                  <a:lnTo>
                    <a:pt x="0" y="135456"/>
                  </a:lnTo>
                  <a:close/>
                </a:path>
              </a:pathLst>
            </a:custGeom>
            <a:gradFill rotWithShape="1">
              <a:gsLst>
                <a:gs pos="0">
                  <a:srgbClr val="175DB7">
                    <a:alpha val="100000"/>
                  </a:srgbClr>
                </a:gs>
                <a:gs pos="100000">
                  <a:srgbClr val="13BFAF">
                    <a:alpha val="100000"/>
                  </a:srgbClr>
                </a:gs>
              </a:gsLst>
              <a:lin ang="0"/>
            </a:gradFill>
          </p:spPr>
          <p:txBody>
            <a:bodyPr/>
            <a:lstStyle/>
            <a:p>
              <a:endParaRPr lang="en-US" dirty="0"/>
            </a:p>
          </p:txBody>
        </p:sp>
        <p:sp>
          <p:nvSpPr>
            <p:cNvPr id="9" name="TextBox 9"/>
            <p:cNvSpPr txBox="1"/>
            <p:nvPr/>
          </p:nvSpPr>
          <p:spPr>
            <a:xfrm>
              <a:off x="0" y="-38100"/>
              <a:ext cx="358020" cy="173556"/>
            </a:xfrm>
            <a:prstGeom prst="rect">
              <a:avLst/>
            </a:prstGeom>
          </p:spPr>
          <p:txBody>
            <a:bodyPr lIns="362344" tIns="362344" rIns="362344" bIns="362344" rtlCol="0" anchor="ctr"/>
            <a:lstStyle/>
            <a:p>
              <a:pPr algn="ctr">
                <a:lnSpc>
                  <a:spcPts val="2660"/>
                </a:lnSpc>
              </a:pPr>
              <a:endParaRPr/>
            </a:p>
          </p:txBody>
        </p:sp>
      </p:grpSp>
      <p:sp>
        <p:nvSpPr>
          <p:cNvPr id="10" name="Freeform 10"/>
          <p:cNvSpPr/>
          <p:nvPr/>
        </p:nvSpPr>
        <p:spPr>
          <a:xfrm rot="-10799121">
            <a:off x="9510694" y="238"/>
            <a:ext cx="8776185" cy="8776185"/>
          </a:xfrm>
          <a:custGeom>
            <a:avLst/>
            <a:gdLst/>
            <a:ahLst/>
            <a:cxnLst/>
            <a:rect l="l" t="t" r="r" b="b"/>
            <a:pathLst>
              <a:path w="8776185" h="8776185">
                <a:moveTo>
                  <a:pt x="0" y="0"/>
                </a:moveTo>
                <a:lnTo>
                  <a:pt x="8776185" y="0"/>
                </a:lnTo>
                <a:lnTo>
                  <a:pt x="8776185" y="8776185"/>
                </a:lnTo>
                <a:lnTo>
                  <a:pt x="0" y="87761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TextBox 11"/>
          <p:cNvSpPr txBox="1"/>
          <p:nvPr/>
        </p:nvSpPr>
        <p:spPr>
          <a:xfrm>
            <a:off x="1028700" y="1228725"/>
            <a:ext cx="8851972" cy="857250"/>
          </a:xfrm>
          <a:prstGeom prst="rect">
            <a:avLst/>
          </a:prstGeom>
        </p:spPr>
        <p:txBody>
          <a:bodyPr lIns="0" tIns="0" rIns="0" bIns="0" rtlCol="0" anchor="t">
            <a:spAutoFit/>
          </a:bodyPr>
          <a:lstStyle/>
          <a:p>
            <a:pPr algn="l">
              <a:lnSpc>
                <a:spcPts val="6299"/>
              </a:lnSpc>
            </a:pPr>
            <a:r>
              <a:rPr lang="en-US" sz="6999" b="1" dirty="0">
                <a:solidFill>
                  <a:srgbClr val="FFFFFF"/>
                </a:solidFill>
                <a:latin typeface="Montserrat Bold"/>
                <a:ea typeface="Montserrat Bold"/>
                <a:cs typeface="Montserrat Bold"/>
                <a:sym typeface="Montserrat Bold"/>
              </a:rPr>
              <a:t>THANK YOU</a:t>
            </a:r>
          </a:p>
        </p:txBody>
      </p:sp>
      <p:sp>
        <p:nvSpPr>
          <p:cNvPr id="21" name="TextBox 21"/>
          <p:cNvSpPr txBox="1"/>
          <p:nvPr/>
        </p:nvSpPr>
        <p:spPr>
          <a:xfrm>
            <a:off x="909098" y="3055302"/>
            <a:ext cx="10185660" cy="6362704"/>
          </a:xfrm>
          <a:prstGeom prst="rect">
            <a:avLst/>
          </a:prstGeom>
        </p:spPr>
        <p:txBody>
          <a:bodyPr wrap="square" lIns="0" tIns="0" rIns="0" bIns="0" rtlCol="0" anchor="t">
            <a:spAutoFit/>
          </a:bodyPr>
          <a:lstStyle/>
          <a:p>
            <a:pPr algn="l">
              <a:lnSpc>
                <a:spcPts val="3079"/>
              </a:lnSpc>
              <a:spcBef>
                <a:spcPct val="0"/>
              </a:spcBef>
            </a:pPr>
            <a:r>
              <a:rPr lang="en-US" sz="3200" b="1" dirty="0">
                <a:solidFill>
                  <a:srgbClr val="FFFFFF"/>
                </a:solidFill>
                <a:latin typeface="Montserrat Bold"/>
                <a:ea typeface="Montserrat Bold"/>
                <a:cs typeface="Montserrat Bold"/>
                <a:sym typeface="Montserrat Bold"/>
              </a:rPr>
              <a:t>Sources</a:t>
            </a:r>
          </a:p>
          <a:p>
            <a:pPr algn="l">
              <a:lnSpc>
                <a:spcPts val="3079"/>
              </a:lnSpc>
              <a:spcBef>
                <a:spcPct val="0"/>
              </a:spcBef>
            </a:pPr>
            <a:endParaRPr lang="en-US" sz="3200" b="1" dirty="0">
              <a:solidFill>
                <a:srgbClr val="FFFFFF"/>
              </a:solidFill>
              <a:latin typeface="Montserrat Bold"/>
              <a:ea typeface="Montserrat Bold"/>
              <a:cs typeface="Montserrat Bold"/>
              <a:sym typeface="Montserrat Bold"/>
            </a:endParaRPr>
          </a:p>
          <a:p>
            <a:pPr marL="342900" indent="-342900" algn="l">
              <a:lnSpc>
                <a:spcPts val="3079"/>
              </a:lnSpc>
              <a:spcBef>
                <a:spcPct val="0"/>
              </a:spcBef>
              <a:buFont typeface="Arial" panose="020B0604020202020204" pitchFamily="34" charset="0"/>
              <a:buChar char="•"/>
            </a:pPr>
            <a:r>
              <a:rPr lang="en-US" sz="3200" b="1" dirty="0">
                <a:solidFill>
                  <a:schemeClr val="bg1"/>
                </a:solidFill>
                <a:latin typeface="Montserrat Bold"/>
                <a:ea typeface="Montserrat Bold"/>
                <a:cs typeface="Montserrat Bold"/>
                <a:sym typeface="Montserrat Bold"/>
                <a:hlinkClick r:id="rId5">
                  <a:extLst>
                    <a:ext uri="{A12FA001-AC4F-418D-AE19-62706E023703}">
                      <ahyp:hlinkClr xmlns:ahyp="http://schemas.microsoft.com/office/drawing/2018/hyperlinkcolor" val="tx"/>
                    </a:ext>
                  </a:extLst>
                </a:hlinkClick>
              </a:rPr>
              <a:t>https://www.trendmicro.com/vinfo/us/security/news/ransomware-spotlight/ransomware-spotlight-lockbit</a:t>
            </a:r>
            <a:endParaRPr lang="en-US" sz="3200" b="1" dirty="0">
              <a:solidFill>
                <a:schemeClr val="bg1"/>
              </a:solidFill>
              <a:latin typeface="Montserrat Bold"/>
              <a:ea typeface="Montserrat Bold"/>
              <a:cs typeface="Montserrat Bold"/>
              <a:sym typeface="Montserrat Bold"/>
            </a:endParaRPr>
          </a:p>
          <a:p>
            <a:pPr marL="342900" indent="-342900" algn="l">
              <a:lnSpc>
                <a:spcPts val="3079"/>
              </a:lnSpc>
              <a:spcBef>
                <a:spcPct val="0"/>
              </a:spcBef>
              <a:buFont typeface="Arial" panose="020B0604020202020204" pitchFamily="34" charset="0"/>
              <a:buChar char="•"/>
            </a:pPr>
            <a:r>
              <a:rPr lang="en-US" sz="3200" b="1" dirty="0">
                <a:solidFill>
                  <a:schemeClr val="bg1"/>
                </a:solidFill>
                <a:latin typeface="Montserrat Bold"/>
                <a:ea typeface="Montserrat Bold"/>
                <a:cs typeface="Montserrat Bold"/>
                <a:sym typeface="Montserrat Bold"/>
                <a:hlinkClick r:id="rId6">
                  <a:extLst>
                    <a:ext uri="{A12FA001-AC4F-418D-AE19-62706E023703}">
                      <ahyp:hlinkClr xmlns:ahyp="http://schemas.microsoft.com/office/drawing/2018/hyperlinkcolor" val="tx"/>
                    </a:ext>
                  </a:extLst>
                </a:hlinkClick>
              </a:rPr>
              <a:t>https://www.akamai.com/glossary/what-is-lockbit-ransomware</a:t>
            </a:r>
            <a:endParaRPr lang="en-US" sz="3200" b="1" dirty="0">
              <a:solidFill>
                <a:schemeClr val="bg1"/>
              </a:solidFill>
              <a:latin typeface="Montserrat Bold"/>
              <a:ea typeface="Montserrat Bold"/>
              <a:cs typeface="Montserrat Bold"/>
              <a:sym typeface="Montserrat Bold"/>
            </a:endParaRPr>
          </a:p>
          <a:p>
            <a:pPr marL="342900" indent="-342900" algn="l">
              <a:lnSpc>
                <a:spcPts val="3079"/>
              </a:lnSpc>
              <a:spcBef>
                <a:spcPct val="0"/>
              </a:spcBef>
              <a:buFont typeface="Arial" panose="020B0604020202020204" pitchFamily="34" charset="0"/>
              <a:buChar char="•"/>
            </a:pPr>
            <a:r>
              <a:rPr lang="en-US" sz="3200" dirty="0">
                <a:solidFill>
                  <a:schemeClr val="bg1"/>
                </a:solidFill>
                <a:latin typeface="Montserrat Bold"/>
                <a:ea typeface="Montserrat Bold"/>
                <a:cs typeface="Montserrat Bold"/>
                <a:sym typeface="Montserrat Bold"/>
                <a:hlinkClick r:id="rId7">
                  <a:extLst>
                    <a:ext uri="{A12FA001-AC4F-418D-AE19-62706E023703}">
                      <ahyp:hlinkClr xmlns:ahyp="http://schemas.microsoft.com/office/drawing/2018/hyperlinkcolor" val="tx"/>
                    </a:ext>
                  </a:extLst>
                </a:hlinkClick>
              </a:rPr>
              <a:t>https://www.state.gov/reward-for-information-lockbit-ransomware-as-a-service/</a:t>
            </a:r>
            <a:endParaRPr lang="en-US" sz="3200" dirty="0">
              <a:solidFill>
                <a:schemeClr val="bg1"/>
              </a:solidFill>
              <a:latin typeface="Montserrat Bold"/>
              <a:ea typeface="Montserrat Bold"/>
              <a:cs typeface="Montserrat Bold"/>
              <a:sym typeface="Montserrat Bold"/>
            </a:endParaRPr>
          </a:p>
          <a:p>
            <a:pPr algn="l">
              <a:lnSpc>
                <a:spcPts val="3079"/>
              </a:lnSpc>
              <a:spcBef>
                <a:spcPct val="0"/>
              </a:spcBef>
            </a:pPr>
            <a:endParaRPr lang="en-US" sz="3200" dirty="0">
              <a:solidFill>
                <a:srgbClr val="FFFFFF"/>
              </a:solidFill>
              <a:latin typeface="Montserrat Bold"/>
              <a:ea typeface="Montserrat Bold"/>
              <a:cs typeface="Montserrat Bold"/>
              <a:sym typeface="Montserrat Bold"/>
            </a:endParaRPr>
          </a:p>
          <a:p>
            <a:pPr algn="l">
              <a:lnSpc>
                <a:spcPts val="3079"/>
              </a:lnSpc>
              <a:spcBef>
                <a:spcPct val="0"/>
              </a:spcBef>
            </a:pPr>
            <a:endParaRPr lang="en-US" sz="3200" b="1" dirty="0">
              <a:solidFill>
                <a:srgbClr val="FFFFFF"/>
              </a:solidFill>
              <a:latin typeface="Montserrat Bold"/>
              <a:ea typeface="Montserrat Bold"/>
              <a:cs typeface="Montserrat Bold"/>
              <a:sym typeface="Montserrat Bold"/>
            </a:endParaRPr>
          </a:p>
          <a:p>
            <a:pPr algn="l">
              <a:lnSpc>
                <a:spcPts val="3079"/>
              </a:lnSpc>
              <a:spcBef>
                <a:spcPct val="0"/>
              </a:spcBef>
            </a:pPr>
            <a:endParaRPr lang="en-US" sz="3200" b="1" dirty="0">
              <a:solidFill>
                <a:srgbClr val="FFFFFF"/>
              </a:solidFill>
              <a:latin typeface="Montserrat Bold"/>
              <a:ea typeface="Montserrat Bold"/>
              <a:cs typeface="Montserrat Bold"/>
              <a:sym typeface="Montserrat Bold"/>
            </a:endParaRPr>
          </a:p>
          <a:p>
            <a:pPr algn="l">
              <a:lnSpc>
                <a:spcPts val="3079"/>
              </a:lnSpc>
              <a:spcBef>
                <a:spcPct val="0"/>
              </a:spcBef>
            </a:pPr>
            <a:endParaRPr lang="en-US" sz="3200" b="1" dirty="0">
              <a:solidFill>
                <a:srgbClr val="FFFFFF"/>
              </a:solidFill>
              <a:latin typeface="Montserrat Bold"/>
              <a:ea typeface="Montserrat Bold"/>
              <a:cs typeface="Montserrat Bold"/>
              <a:sym typeface="Montserrat Bold"/>
            </a:endParaRPr>
          </a:p>
          <a:p>
            <a:pPr algn="l">
              <a:lnSpc>
                <a:spcPts val="3079"/>
              </a:lnSpc>
              <a:spcBef>
                <a:spcPct val="0"/>
              </a:spcBef>
            </a:pPr>
            <a:endParaRPr lang="en-US" sz="3200" b="1" dirty="0">
              <a:solidFill>
                <a:srgbClr val="FFFFFF"/>
              </a:solidFill>
              <a:latin typeface="Montserrat Bold"/>
              <a:ea typeface="Montserrat Bold"/>
              <a:cs typeface="Montserrat Bold"/>
              <a:sym typeface="Montserrat Bold"/>
            </a:endParaRPr>
          </a:p>
          <a:p>
            <a:pPr algn="l">
              <a:lnSpc>
                <a:spcPts val="3079"/>
              </a:lnSpc>
              <a:spcBef>
                <a:spcPct val="0"/>
              </a:spcBef>
            </a:pPr>
            <a:endParaRPr lang="en-US" sz="3200" b="1" dirty="0">
              <a:solidFill>
                <a:srgbClr val="FFFFFF"/>
              </a:solidFill>
              <a:latin typeface="Montserrat Bold"/>
              <a:ea typeface="Montserrat Bold"/>
              <a:cs typeface="Montserrat Bold"/>
              <a:sym typeface="Montserrat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1838</TotalTime>
  <Words>579</Words>
  <Application>Microsoft Macintosh PowerPoint</Application>
  <PresentationFormat>Custom</PresentationFormat>
  <Paragraphs>93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Montserrat Bold</vt:lpstr>
      <vt:lpstr>Montserrat</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Blue Modern Gradient Cybersecurity Presentation</dc:title>
  <cp:lastModifiedBy>Karla Alvarez</cp:lastModifiedBy>
  <cp:revision>4</cp:revision>
  <cp:lastPrinted>2025-03-15T23:51:09Z</cp:lastPrinted>
  <dcterms:created xsi:type="dcterms:W3CDTF">2006-08-16T00:00:00Z</dcterms:created>
  <dcterms:modified xsi:type="dcterms:W3CDTF">2025-03-16T00:12:35Z</dcterms:modified>
  <dc:identifier>DAGgyNBST_s</dc:identifier>
</cp:coreProperties>
</file>